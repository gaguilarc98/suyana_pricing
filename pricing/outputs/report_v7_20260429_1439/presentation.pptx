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05840" y="2926080"/>
            <a:ext cx="10149840" cy="0"/>
          </a:xfrm>
          <a:prstGeom prst="line">
            <a:avLst/>
          </a:prstGeom>
          <a:ln w="2032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05840" y="1115568"/>
            <a:ext cx="9875520" cy="63728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779" b="1">
                <a:solidFill>
                  <a:srgbClr val="FFFFFF"/>
                </a:solidFill>
                <a:latin typeface="Arial"/>
              </a:rPr>
              <a:t>Seguro Parametrico de Sequia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47088"/>
            <a:ext cx="9875520" cy="63728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779" b="1">
                <a:solidFill>
                  <a:srgbClr val="43A047"/>
                </a:solidFill>
                <a:latin typeface="Arial"/>
              </a:rPr>
              <a:t>Trigo - Argentina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383280"/>
            <a:ext cx="98755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89" b="0">
                <a:solidFill>
                  <a:srgbClr val="9E9E9E"/>
                </a:solidFill>
                <a:latin typeface="Arial"/>
              </a:rPr>
              <a:t>Un producto transparente que conecta deficit de humedad de suelo con pagos auditables y una cotizacion comercial.
Regiones Sur y Norte - Campana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897880"/>
            <a:ext cx="9875520" cy="25501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80" b="0">
                <a:solidFill>
                  <a:srgbClr val="555555"/>
                </a:solidFill>
                <a:latin typeface="Arial"/>
              </a:rPr>
              <a:t>Suyana - Producto Parametrico de Sequia v1.0.0 - Climatologia 1996-2025 - ERA5 swvl1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73152"/>
            <a:ext cx="12191999" cy="0"/>
          </a:xfrm>
          <a:prstGeom prst="line">
            <a:avLst/>
          </a:prstGeom>
          <a:ln w="2032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41248" y="329184"/>
            <a:ext cx="9966960" cy="52806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100" b="1">
                <a:solidFill>
                  <a:srgbClr val="141414"/>
                </a:solidFill>
                <a:latin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195560" cy="4937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89" b="0">
                <a:solidFill>
                  <a:srgbClr val="555555"/>
                </a:solidFill>
                <a:latin typeface="Arial"/>
              </a:rPr>
              <a:t>La historia avanza desde la cobertura y los datos hasta el diseno del indice, el contrato, la cotizacion y la ejecucion.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481328"/>
            <a:ext cx="10515600" cy="0"/>
          </a:xfrm>
          <a:prstGeom prst="line">
            <a:avLst/>
          </a:prstGeom>
          <a:ln w="635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6446520"/>
            <a:ext cx="12191999" cy="0"/>
          </a:xfrm>
          <a:prstGeom prst="line">
            <a:avLst/>
          </a:prstGeom>
          <a:ln w="508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" y="6483096"/>
            <a:ext cx="7315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9E9E9E"/>
                </a:solidFill>
                <a:latin typeface="Arial"/>
              </a:rPr>
              <a:t>Producto Parametrico de Sequia | Confidencial | Abril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83096"/>
            <a:ext cx="731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200" b="0">
                <a:solidFill>
                  <a:srgbClr val="9E9E9E"/>
                </a:solidFill>
                <a:latin typeface="Arial"/>
              </a:rPr>
              <a:t>2/23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74519"/>
            <a:ext cx="594360" cy="52806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3100" b="1">
                <a:solidFill>
                  <a:srgbClr val="43A047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874519"/>
            <a:ext cx="5943600" cy="52806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100" b="0">
                <a:solidFill>
                  <a:srgbClr val="141414"/>
                </a:solidFill>
                <a:latin typeface="Arial"/>
              </a:rPr>
              <a:t>Producto y cobertura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96312"/>
            <a:ext cx="594360" cy="52806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3100" b="1">
                <a:solidFill>
                  <a:srgbClr val="43A047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496312"/>
            <a:ext cx="5943600" cy="52806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100" b="0">
                <a:solidFill>
                  <a:srgbClr val="141414"/>
                </a:solidFill>
                <a:latin typeface="Arial"/>
              </a:rPr>
              <a:t>Datos y credibilidad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118104"/>
            <a:ext cx="594360" cy="52806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3100" b="1">
                <a:solidFill>
                  <a:srgbClr val="43A047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118104"/>
            <a:ext cx="5943600" cy="52806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100" b="0">
                <a:solidFill>
                  <a:srgbClr val="141414"/>
                </a:solidFill>
                <a:latin typeface="Arial"/>
              </a:rPr>
              <a:t>Diseno del indice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739896"/>
            <a:ext cx="594360" cy="52806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3100" b="1">
                <a:solidFill>
                  <a:srgbClr val="43A047"/>
                </a:solidFill>
                <a:latin typeface="Arial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739896"/>
            <a:ext cx="5943600" cy="52806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100" b="0">
                <a:solidFill>
                  <a:srgbClr val="141414"/>
                </a:solidFill>
                <a:latin typeface="Arial"/>
              </a:rPr>
              <a:t>Diseno del contrato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361688"/>
            <a:ext cx="594360" cy="52806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3100" b="1">
                <a:solidFill>
                  <a:srgbClr val="43A047"/>
                </a:solidFill>
                <a:latin typeface="Arial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4361688"/>
            <a:ext cx="5943600" cy="52806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100" b="0">
                <a:solidFill>
                  <a:srgbClr val="141414"/>
                </a:solidFill>
                <a:latin typeface="Arial"/>
              </a:rPr>
              <a:t>Resultados y cotizacion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983480"/>
            <a:ext cx="594360" cy="52806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3100" b="1">
                <a:solidFill>
                  <a:srgbClr val="43A047"/>
                </a:solidFill>
                <a:latin typeface="Arial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983480"/>
            <a:ext cx="5943600" cy="52806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100" b="0">
                <a:solidFill>
                  <a:srgbClr val="141414"/>
                </a:solidFill>
                <a:latin typeface="Arial"/>
              </a:rPr>
              <a:t>Proximos pasos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2240280"/>
            <a:ext cx="1920240" cy="1347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260" b="1">
                <a:solidFill>
                  <a:srgbClr val="43A047"/>
                </a:solidFill>
                <a:latin typeface="Arial"/>
              </a:rPr>
              <a:t>01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87552" y="3547872"/>
            <a:ext cx="10030968" cy="0"/>
          </a:xfrm>
          <a:prstGeom prst="line">
            <a:avLst/>
          </a:prstGeom>
          <a:ln w="1524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87552" y="3886200"/>
            <a:ext cx="89611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440" b="1">
                <a:solidFill>
                  <a:srgbClr val="FFFFFF"/>
                </a:solidFill>
                <a:latin typeface="Arial"/>
              </a:rPr>
              <a:t>Producto y cobertura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736592"/>
            <a:ext cx="9966960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89" b="0">
                <a:solidFill>
                  <a:srgbClr val="9E9E9E"/>
                </a:solidFill>
                <a:latin typeface="Arial"/>
              </a:rPr>
              <a:t>Primero se fija el cultivo, la geografia, la temporada y la promesa de pago.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73152"/>
            <a:ext cx="12191999" cy="0"/>
          </a:xfrm>
          <a:prstGeom prst="line">
            <a:avLst/>
          </a:prstGeom>
          <a:ln w="2032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41248" y="329184"/>
            <a:ext cx="9966960" cy="52806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100" b="1">
                <a:solidFill>
                  <a:srgbClr val="141414"/>
                </a:solidFill>
                <a:latin typeface="Arial"/>
              </a:rPr>
              <a:t>Que cubre el producto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195560" cy="4937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89" b="0">
                <a:solidFill>
                  <a:srgbClr val="555555"/>
                </a:solidFill>
                <a:latin typeface="Arial"/>
              </a:rPr>
              <a:t>El producto define donde se cubre la sequia y como cada gatillo convierte estres hidrico en pago.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481328"/>
            <a:ext cx="10515600" cy="0"/>
          </a:xfrm>
          <a:prstGeom prst="line">
            <a:avLst/>
          </a:prstGeom>
          <a:ln w="635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6446520"/>
            <a:ext cx="12191999" cy="0"/>
          </a:xfrm>
          <a:prstGeom prst="line">
            <a:avLst/>
          </a:prstGeom>
          <a:ln w="508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" y="6483096"/>
            <a:ext cx="7315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9E9E9E"/>
                </a:solidFill>
                <a:latin typeface="Arial"/>
              </a:rPr>
              <a:t>Producto Parametrico de Sequia | Confidencial | Abril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83096"/>
            <a:ext cx="731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200" b="0">
                <a:solidFill>
                  <a:srgbClr val="9E9E9E"/>
                </a:solidFill>
                <a:latin typeface="Arial"/>
              </a:rPr>
              <a:t>4/23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96112" y="1874519"/>
            <a:ext cx="4590288" cy="0"/>
          </a:xfrm>
          <a:prstGeom prst="line">
            <a:avLst/>
          </a:prstGeom>
          <a:ln w="101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6112" y="2048256"/>
            <a:ext cx="4846320" cy="39154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240" b="1">
                <a:solidFill>
                  <a:srgbClr val="141414"/>
                </a:solidFill>
                <a:latin typeface="Arial"/>
              </a:rPr>
              <a:t>Cultivo y regiones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542032"/>
            <a:ext cx="4846320" cy="400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60" b="1">
                <a:solidFill>
                  <a:srgbClr val="43A047"/>
                </a:solidFill>
                <a:latin typeface="Arial"/>
              </a:rPr>
              <a:t>-</a:t>
            </a:r>
            <a:r>
              <a:rPr sz="2060" b="0">
                <a:solidFill>
                  <a:srgbClr val="141414"/>
                </a:solidFill>
                <a:latin typeface="Arial"/>
              </a:rPr>
              <a:t>Cultivo: Trigo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052572"/>
            <a:ext cx="4846320" cy="400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60" b="1">
                <a:solidFill>
                  <a:srgbClr val="43A047"/>
                </a:solidFill>
                <a:latin typeface="Arial"/>
              </a:rPr>
              <a:t>-</a:t>
            </a:r>
            <a:r>
              <a:rPr sz="2060" b="0">
                <a:solidFill>
                  <a:srgbClr val="141414"/>
                </a:solidFill>
                <a:latin typeface="Arial"/>
              </a:rPr>
              <a:t>Region Sur: limite de perdida $600-$900 USD/ha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563112"/>
            <a:ext cx="4846320" cy="400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60" b="1">
                <a:solidFill>
                  <a:srgbClr val="43A047"/>
                </a:solidFill>
                <a:latin typeface="Arial"/>
              </a:rPr>
              <a:t>-</a:t>
            </a:r>
            <a:r>
              <a:rPr sz="2060" b="0">
                <a:solidFill>
                  <a:srgbClr val="141414"/>
                </a:solidFill>
                <a:latin typeface="Arial"/>
              </a:rPr>
              <a:t>Region Norte: limite de perdida $900-$1,200 USD/ha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17920" y="1874519"/>
            <a:ext cx="4892040" cy="0"/>
          </a:xfrm>
          <a:prstGeom prst="line">
            <a:avLst/>
          </a:prstGeom>
          <a:ln w="101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17920" y="2048256"/>
            <a:ext cx="4846320" cy="39154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240" b="1">
                <a:solidFill>
                  <a:srgbClr val="141414"/>
                </a:solidFill>
                <a:latin typeface="Arial"/>
              </a:rPr>
              <a:t>Mecanismo de pago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2542032"/>
            <a:ext cx="4754880" cy="400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60" b="1">
                <a:solidFill>
                  <a:srgbClr val="43A047"/>
                </a:solidFill>
                <a:latin typeface="Arial"/>
              </a:rPr>
              <a:t>-</a:t>
            </a:r>
            <a:r>
              <a:rPr sz="2060" b="0">
                <a:solidFill>
                  <a:srgbClr val="141414"/>
                </a:solidFill>
                <a:latin typeface="Arial"/>
              </a:rPr>
              <a:t>Gatillo P10: 20% del limite regional por hectarea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3052572"/>
            <a:ext cx="4754880" cy="400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60" b="1">
                <a:solidFill>
                  <a:srgbClr val="43A047"/>
                </a:solidFill>
                <a:latin typeface="Arial"/>
              </a:rPr>
              <a:t>-</a:t>
            </a:r>
            <a:r>
              <a:rPr sz="2060" b="0">
                <a:solidFill>
                  <a:srgbClr val="141414"/>
                </a:solidFill>
                <a:latin typeface="Arial"/>
              </a:rPr>
              <a:t>Gatillo P5: 40% del limite regional por hectarea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3563112"/>
            <a:ext cx="4754880" cy="400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60" b="1">
                <a:solidFill>
                  <a:srgbClr val="43A047"/>
                </a:solidFill>
                <a:latin typeface="Arial"/>
              </a:rPr>
              <a:t>-</a:t>
            </a:r>
            <a:r>
              <a:rPr sz="2060" b="0">
                <a:solidFill>
                  <a:srgbClr val="141414"/>
                </a:solidFill>
                <a:latin typeface="Arial"/>
              </a:rPr>
              <a:t>Gatillo P1: 100% del limite regional por hectarea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30368"/>
            <a:ext cx="102412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20" b="0">
                <a:solidFill>
                  <a:srgbClr val="9E9E9E"/>
                </a:solidFill>
                <a:latin typeface="Arial"/>
              </a:rPr>
              <a:t>Los porcentajes de pago se aplican sobre el limite midpoint de cada region (Sur $750 USD/ha - Norte $1,050 USD/ha) escalonado por capa. El area asegurada de referencia es 1,000 ha por pixel.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73152"/>
            <a:ext cx="12191999" cy="0"/>
          </a:xfrm>
          <a:prstGeom prst="line">
            <a:avLst/>
          </a:prstGeom>
          <a:ln w="2032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41248" y="329184"/>
            <a:ext cx="9966960" cy="52806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100" b="1">
                <a:solidFill>
                  <a:srgbClr val="141414"/>
                </a:solidFill>
                <a:latin typeface="Arial"/>
              </a:rPr>
              <a:t>Ventana de cobertura y propuesta de 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195560" cy="4937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89" b="0">
                <a:solidFill>
                  <a:srgbClr val="555555"/>
                </a:solidFill>
                <a:latin typeface="Arial"/>
              </a:rPr>
              <a:t>La ventana apunta al periodo critico del cultivo y reemplaza el ajuste de siniestro por liquidacion objetiva.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481328"/>
            <a:ext cx="10515600" cy="0"/>
          </a:xfrm>
          <a:prstGeom prst="line">
            <a:avLst/>
          </a:prstGeom>
          <a:ln w="635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6446520"/>
            <a:ext cx="12191999" cy="0"/>
          </a:xfrm>
          <a:prstGeom prst="line">
            <a:avLst/>
          </a:prstGeom>
          <a:ln w="508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" y="6483096"/>
            <a:ext cx="7315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9E9E9E"/>
                </a:solidFill>
                <a:latin typeface="Arial"/>
              </a:rPr>
              <a:t>Producto Parametrico de Sequia | Confidencial | Abril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83096"/>
            <a:ext cx="731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200" b="0">
                <a:solidFill>
                  <a:srgbClr val="9E9E9E"/>
                </a:solidFill>
                <a:latin typeface="Arial"/>
              </a:rPr>
              <a:t>5/23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96112" y="1874519"/>
            <a:ext cx="4590288" cy="0"/>
          </a:xfrm>
          <a:prstGeom prst="line">
            <a:avLst/>
          </a:prstGeom>
          <a:ln w="101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6112" y="2048256"/>
            <a:ext cx="4846320" cy="39154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240" b="1">
                <a:solidFill>
                  <a:srgbClr val="141414"/>
                </a:solidFill>
                <a:latin typeface="Arial"/>
              </a:rPr>
              <a:t>Ventana de monitoreo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542032"/>
            <a:ext cx="4846320" cy="400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60" b="1">
                <a:solidFill>
                  <a:srgbClr val="43A047"/>
                </a:solidFill>
                <a:latin typeface="Arial"/>
              </a:rPr>
              <a:t>-</a:t>
            </a:r>
            <a:r>
              <a:rPr sz="2060" b="0">
                <a:solidFill>
                  <a:srgbClr val="141414"/>
                </a:solidFill>
                <a:latin typeface="Arial"/>
              </a:rPr>
              <a:t>15 de septiembre al 14 de noviembre (61 dias)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052572"/>
            <a:ext cx="4846320" cy="400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60" b="1">
                <a:solidFill>
                  <a:srgbClr val="43A047"/>
                </a:solidFill>
                <a:latin typeface="Arial"/>
              </a:rPr>
              <a:t>-</a:t>
            </a:r>
            <a:r>
              <a:rPr sz="2060" b="0">
                <a:solidFill>
                  <a:srgbClr val="141414"/>
                </a:solidFill>
                <a:latin typeface="Arial"/>
              </a:rPr>
              <a:t>Cubre el periodo critico de macollaje y encanado del trigo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563112"/>
            <a:ext cx="4846320" cy="400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60" b="1">
                <a:solidFill>
                  <a:srgbClr val="43A047"/>
                </a:solidFill>
                <a:latin typeface="Arial"/>
              </a:rPr>
              <a:t>-</a:t>
            </a:r>
            <a:r>
              <a:rPr sz="2060" b="0">
                <a:solidFill>
                  <a:srgbClr val="141414"/>
                </a:solidFill>
                <a:latin typeface="Arial"/>
              </a:rPr>
              <a:t>Sin cruce de ano calendario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17920" y="1874519"/>
            <a:ext cx="4892040" cy="0"/>
          </a:xfrm>
          <a:prstGeom prst="line">
            <a:avLst/>
          </a:prstGeom>
          <a:ln w="101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17920" y="2048256"/>
            <a:ext cx="4846320" cy="39154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240" b="1">
                <a:solidFill>
                  <a:srgbClr val="141414"/>
                </a:solidFill>
                <a:latin typeface="Arial"/>
              </a:rPr>
              <a:t>Propuesta de valor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2542032"/>
            <a:ext cx="4754880" cy="400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60" b="1">
                <a:solidFill>
                  <a:srgbClr val="43A047"/>
                </a:solidFill>
                <a:latin typeface="Arial"/>
              </a:rPr>
              <a:t>-</a:t>
            </a:r>
            <a:r>
              <a:rPr sz="2060" b="0">
                <a:solidFill>
                  <a:srgbClr val="141414"/>
                </a:solidFill>
                <a:latin typeface="Arial"/>
              </a:rPr>
              <a:t>Pago automatico y objetivo: humedad de suelo observada, sin ajuste de siniestro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3108960"/>
            <a:ext cx="4754880" cy="400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60" b="1">
                <a:solidFill>
                  <a:srgbClr val="43A047"/>
                </a:solidFill>
                <a:latin typeface="Arial"/>
              </a:rPr>
              <a:t>-</a:t>
            </a:r>
            <a:r>
              <a:rPr sz="2060" b="0">
                <a:solidFill>
                  <a:srgbClr val="141414"/>
                </a:solidFill>
                <a:latin typeface="Arial"/>
              </a:rPr>
              <a:t>Escalonamiento transparente: tres capas con umbrales percentilicos historicos verificables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2240280"/>
            <a:ext cx="1920240" cy="1347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260" b="1">
                <a:solidFill>
                  <a:srgbClr val="43A047"/>
                </a:solidFill>
                <a:latin typeface="Arial"/>
              </a:rPr>
              <a:t>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87552" y="3547872"/>
            <a:ext cx="10030968" cy="0"/>
          </a:xfrm>
          <a:prstGeom prst="line">
            <a:avLst/>
          </a:prstGeom>
          <a:ln w="1524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87552" y="3886200"/>
            <a:ext cx="89611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440" b="1">
                <a:solidFill>
                  <a:srgbClr val="FFFFFF"/>
                </a:solidFill>
                <a:latin typeface="Arial"/>
              </a:rPr>
              <a:t>Datos y credibilidad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736592"/>
            <a:ext cx="9966960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89" b="0">
                <a:solidFill>
                  <a:srgbClr val="9E9E9E"/>
                </a:solidFill>
                <a:latin typeface="Arial"/>
              </a:rPr>
              <a:t>Luego se demuestra que los datos y controles sostienen un indice auditable.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73152"/>
            <a:ext cx="12191999" cy="0"/>
          </a:xfrm>
          <a:prstGeom prst="line">
            <a:avLst/>
          </a:prstGeom>
          <a:ln w="2032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41248" y="329184"/>
            <a:ext cx="9966960" cy="52806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100" b="1">
                <a:solidFill>
                  <a:srgbClr val="141414"/>
                </a:solidFill>
                <a:latin typeface="Arial"/>
              </a:rPr>
              <a:t>Fuente de datos y cobertura temporal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195560" cy="4937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89" b="0">
                <a:solidFill>
                  <a:srgbClr val="555555"/>
                </a:solidFill>
                <a:latin typeface="Arial"/>
              </a:rPr>
              <a:t>Treinta campanas de humedad de suelo ERA5 sostienen umbrales empiricos transparentes.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481328"/>
            <a:ext cx="10515600" cy="0"/>
          </a:xfrm>
          <a:prstGeom prst="line">
            <a:avLst/>
          </a:prstGeom>
          <a:ln w="635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6446520"/>
            <a:ext cx="12191999" cy="0"/>
          </a:xfrm>
          <a:prstGeom prst="line">
            <a:avLst/>
          </a:prstGeom>
          <a:ln w="508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" y="6483096"/>
            <a:ext cx="7315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9E9E9E"/>
                </a:solidFill>
                <a:latin typeface="Arial"/>
              </a:rPr>
              <a:t>Producto Parametrico de Sequia | Confidencial | Abril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83096"/>
            <a:ext cx="731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200" b="0">
                <a:solidFill>
                  <a:srgbClr val="9E9E9E"/>
                </a:solidFill>
                <a:latin typeface="Arial"/>
              </a:rPr>
              <a:t>7/23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60120" y="2338578"/>
            <a:ext cx="10104120" cy="0"/>
          </a:xfrm>
          <a:prstGeom prst="line">
            <a:avLst/>
          </a:prstGeom>
          <a:ln w="1397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60120" y="3538728"/>
            <a:ext cx="10104120" cy="0"/>
          </a:xfrm>
          <a:prstGeom prst="line">
            <a:avLst/>
          </a:prstGeom>
          <a:ln w="889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96696" y="1965960"/>
            <a:ext cx="2452878" cy="36347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060" b="1">
                <a:solidFill>
                  <a:srgbClr val="43A047"/>
                </a:solidFill>
                <a:latin typeface="Arial"/>
              </a:rPr>
              <a:t>Variable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2726" y="1965960"/>
            <a:ext cx="2452878" cy="36347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2060" b="1">
                <a:solidFill>
                  <a:srgbClr val="43A047"/>
                </a:solidFill>
                <a:latin typeface="Arial"/>
              </a:rPr>
              <a:t>Fuente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48756" y="1965960"/>
            <a:ext cx="2452878" cy="36347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2060" b="1">
                <a:solidFill>
                  <a:srgbClr val="43A047"/>
                </a:solidFill>
                <a:latin typeface="Arial"/>
              </a:rPr>
              <a:t>Periodo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4786" y="1965960"/>
            <a:ext cx="2452878" cy="36347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2060" b="1">
                <a:solidFill>
                  <a:srgbClr val="43A047"/>
                </a:solidFill>
                <a:latin typeface="Arial"/>
              </a:rPr>
              <a:t>Resolucion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2366010"/>
            <a:ext cx="2452878" cy="36347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060" b="0">
                <a:solidFill>
                  <a:srgbClr val="141414"/>
                </a:solidFill>
                <a:latin typeface="Arial"/>
              </a:rPr>
              <a:t>Humedad de suelo (capa 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2726" y="2366010"/>
            <a:ext cx="2452878" cy="36347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2060" b="0">
                <a:solidFill>
                  <a:srgbClr val="141414"/>
                </a:solidFill>
                <a:latin typeface="Arial"/>
              </a:rPr>
              <a:t>ERA5 swvl1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48756" y="2366010"/>
            <a:ext cx="2452878" cy="36347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2060" b="0">
                <a:solidFill>
                  <a:srgbClr val="141414"/>
                </a:solidFill>
                <a:latin typeface="Arial"/>
              </a:rPr>
              <a:t>1996-2025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4786" y="2366010"/>
            <a:ext cx="2452878" cy="36347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2060" b="0">
                <a:solidFill>
                  <a:srgbClr val="141414"/>
                </a:solidFill>
                <a:latin typeface="Arial"/>
              </a:rPr>
              <a:t>~25 km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0120" y="2738628"/>
            <a:ext cx="10104120" cy="0"/>
          </a:xfrm>
          <a:prstGeom prst="line">
            <a:avLst/>
          </a:prstGeom>
          <a:ln w="571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96696" y="2766060"/>
            <a:ext cx="2452878" cy="36347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060" b="0">
                <a:solidFill>
                  <a:srgbClr val="141414"/>
                </a:solidFill>
                <a:latin typeface="Arial"/>
              </a:rPr>
              <a:t>Anomalia acumulada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2726" y="2766060"/>
            <a:ext cx="2452878" cy="36347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2060" b="0">
                <a:solidFill>
                  <a:srgbClr val="141414"/>
                </a:solidFill>
                <a:latin typeface="Arial"/>
              </a:rPr>
              <a:t>Climatologia interna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48756" y="2766060"/>
            <a:ext cx="2452878" cy="36347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2060" b="0">
                <a:solidFill>
                  <a:srgbClr val="141414"/>
                </a:solidFill>
                <a:latin typeface="Arial"/>
              </a:rPr>
              <a:t>1996-2025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4786" y="2766060"/>
            <a:ext cx="2452878" cy="36347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2060" b="0">
                <a:solidFill>
                  <a:srgbClr val="141414"/>
                </a:solidFill>
                <a:latin typeface="Arial"/>
              </a:rPr>
              <a:t>pixel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0120" y="3138678"/>
            <a:ext cx="10104120" cy="0"/>
          </a:xfrm>
          <a:prstGeom prst="line">
            <a:avLst/>
          </a:prstGeom>
          <a:ln w="571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96696" y="3166110"/>
            <a:ext cx="2452878" cy="36347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060" b="0">
                <a:solidFill>
                  <a:srgbClr val="141414"/>
                </a:solidFill>
                <a:latin typeface="Arial"/>
              </a:rPr>
              <a:t>Superficie asegurada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2726" y="3166110"/>
            <a:ext cx="2452878" cy="36347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2060" b="0">
                <a:solidFill>
                  <a:srgbClr val="141414"/>
                </a:solidFill>
                <a:latin typeface="Arial"/>
              </a:rPr>
              <a:t>Contrato (input)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48756" y="3166110"/>
            <a:ext cx="2452878" cy="36347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2060" b="0">
                <a:solidFill>
                  <a:srgbClr val="141414"/>
                </a:solidFill>
                <a:latin typeface="Arial"/>
              </a:rPr>
              <a:t>-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4786" y="3166110"/>
            <a:ext cx="2452878" cy="36347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2060" b="0">
                <a:solidFill>
                  <a:srgbClr val="141414"/>
                </a:solidFill>
                <a:latin typeface="Arial"/>
              </a:rPr>
              <a:t>1,000 ha/pixel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3840480"/>
            <a:ext cx="100584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89" b="0">
                <a:solidFill>
                  <a:srgbClr val="9E9E9E"/>
                </a:solidFill>
                <a:latin typeface="Arial"/>
              </a:rPr>
              <a:t>El dataset cubre 30 campanas de trigo (1996-2025), con dos pixeles georreferenciados: px_1 = Zona A / Sur y px_2 = Zona B / Norte.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590288"/>
            <a:ext cx="100584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89" b="0">
                <a:solidFill>
                  <a:srgbClr val="9E9E9E"/>
                </a:solidFill>
                <a:latin typeface="Arial"/>
              </a:rPr>
              <a:t>La variable swvl1 es la humedad volumetrica de la primera capa de suelo (0-7 cm) del reanalisis ERA5 de ECMWF, procesada a resolucion diaria en modo pixel-level sin interpolacion espacial adicional.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73152"/>
            <a:ext cx="12191999" cy="0"/>
          </a:xfrm>
          <a:prstGeom prst="line">
            <a:avLst/>
          </a:prstGeom>
          <a:ln w="2032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41248" y="329184"/>
            <a:ext cx="9966960" cy="52806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100" b="1">
                <a:solidFill>
                  <a:srgbClr val="141414"/>
                </a:solidFill>
                <a:latin typeface="Arial"/>
              </a:rPr>
              <a:t>Validacion cuantitativa de la climatologia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195560" cy="4937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89" b="0">
                <a:solidFill>
                  <a:srgbClr val="555555"/>
                </a:solidFill>
                <a:latin typeface="Arial"/>
              </a:rPr>
              <a:t>Los controles automaticos verifican que la climatologia sea estable y auditable.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481328"/>
            <a:ext cx="10515600" cy="0"/>
          </a:xfrm>
          <a:prstGeom prst="line">
            <a:avLst/>
          </a:prstGeom>
          <a:ln w="635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6446520"/>
            <a:ext cx="12191999" cy="0"/>
          </a:xfrm>
          <a:prstGeom prst="line">
            <a:avLst/>
          </a:prstGeom>
          <a:ln w="508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" y="6483096"/>
            <a:ext cx="7315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9E9E9E"/>
                </a:solidFill>
                <a:latin typeface="Arial"/>
              </a:rPr>
              <a:t>Producto Parametrico de Sequia | Confidencial | Abril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83096"/>
            <a:ext cx="731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200" b="0">
                <a:solidFill>
                  <a:srgbClr val="9E9E9E"/>
                </a:solidFill>
                <a:latin typeface="Arial"/>
              </a:rPr>
              <a:t>8/23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783080"/>
            <a:ext cx="5029200" cy="39154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240" b="1">
                <a:solidFill>
                  <a:srgbClr val="141414"/>
                </a:solidFill>
                <a:latin typeface="Arial"/>
              </a:rPr>
              <a:t>Estadistica de la climatologia de referencia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6112" y="2644140"/>
            <a:ext cx="5029200" cy="0"/>
          </a:xfrm>
          <a:prstGeom prst="line">
            <a:avLst/>
          </a:prstGeom>
          <a:ln w="1397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96112" y="4663440"/>
            <a:ext cx="5029200" cy="0"/>
          </a:xfrm>
          <a:prstGeom prst="line">
            <a:avLst/>
          </a:prstGeom>
          <a:ln w="889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32688" y="2267712"/>
            <a:ext cx="2441448" cy="3672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810" b="1">
                <a:solidFill>
                  <a:srgbClr val="43A047"/>
                </a:solidFill>
                <a:latin typeface="Arial"/>
              </a:rPr>
              <a:t>Metrica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2267712"/>
            <a:ext cx="2441448" cy="3672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810" b="1">
                <a:solidFill>
                  <a:srgbClr val="43A047"/>
                </a:solidFill>
                <a:latin typeface="Arial"/>
              </a:rPr>
              <a:t>Valor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671572"/>
            <a:ext cx="2441448" cy="3672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810" b="0">
                <a:solidFill>
                  <a:srgbClr val="141414"/>
                </a:solidFill>
                <a:latin typeface="Arial"/>
              </a:rPr>
              <a:t>Registros (dias x pixeles)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671572"/>
            <a:ext cx="2441448" cy="3672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810" b="0">
                <a:solidFill>
                  <a:srgbClr val="141414"/>
                </a:solidFill>
                <a:latin typeface="Arial"/>
              </a:rPr>
              <a:t>732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6112" y="3048000"/>
            <a:ext cx="5029200" cy="0"/>
          </a:xfrm>
          <a:prstGeom prst="line">
            <a:avLst/>
          </a:prstGeom>
          <a:ln w="571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32688" y="3075432"/>
            <a:ext cx="2441448" cy="3672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810" b="0">
                <a:solidFill>
                  <a:srgbClr val="141414"/>
                </a:solidFill>
                <a:latin typeface="Arial"/>
              </a:rPr>
              <a:t>Media humedad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3075432"/>
            <a:ext cx="2441448" cy="3672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810" b="0">
                <a:solidFill>
                  <a:srgbClr val="141414"/>
                </a:solidFill>
                <a:latin typeface="Arial"/>
              </a:rPr>
              <a:t>0.3005 m3/m3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6112" y="3451860"/>
            <a:ext cx="5029200" cy="0"/>
          </a:xfrm>
          <a:prstGeom prst="line">
            <a:avLst/>
          </a:prstGeom>
          <a:ln w="571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32688" y="3479292"/>
            <a:ext cx="2441448" cy="3672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810" b="0">
                <a:solidFill>
                  <a:srgbClr val="141414"/>
                </a:solidFill>
                <a:latin typeface="Arial"/>
              </a:rPr>
              <a:t>Desvio estandar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7288" y="3479292"/>
            <a:ext cx="2441448" cy="3672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810" b="0">
                <a:solidFill>
                  <a:srgbClr val="141414"/>
                </a:solidFill>
                <a:latin typeface="Arial"/>
              </a:rPr>
              <a:t>0.0092 m3/m3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6112" y="3855720"/>
            <a:ext cx="5029200" cy="0"/>
          </a:xfrm>
          <a:prstGeom prst="line">
            <a:avLst/>
          </a:prstGeom>
          <a:ln w="571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32688" y="3883152"/>
            <a:ext cx="2441448" cy="3672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810" b="0">
                <a:solidFill>
                  <a:srgbClr val="141414"/>
                </a:solidFill>
                <a:latin typeface="Arial"/>
              </a:rPr>
              <a:t>Percentil 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7288" y="3883152"/>
            <a:ext cx="2441448" cy="3672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810" b="0">
                <a:solidFill>
                  <a:srgbClr val="141414"/>
                </a:solidFill>
                <a:latin typeface="Arial"/>
              </a:rPr>
              <a:t>0.2857 m3/m3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96112" y="4259580"/>
            <a:ext cx="5029200" cy="0"/>
          </a:xfrm>
          <a:prstGeom prst="line">
            <a:avLst/>
          </a:prstGeom>
          <a:ln w="571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32688" y="4287012"/>
            <a:ext cx="2441448" cy="3672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810" b="0">
                <a:solidFill>
                  <a:srgbClr val="141414"/>
                </a:solidFill>
                <a:latin typeface="Arial"/>
              </a:rPr>
              <a:t>Percentil 95%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47288" y="4287012"/>
            <a:ext cx="2441448" cy="3672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810" b="0">
                <a:solidFill>
                  <a:srgbClr val="141414"/>
                </a:solidFill>
                <a:latin typeface="Arial"/>
              </a:rPr>
              <a:t>0.3153 m3/m3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1783080"/>
            <a:ext cx="4572000" cy="39154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240" b="1">
                <a:solidFill>
                  <a:srgbClr val="141414"/>
                </a:solidFill>
                <a:latin typeface="Arial"/>
              </a:rPr>
              <a:t>Contratos de datos: todos aprobados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240280"/>
            <a:ext cx="4754880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60" b="1">
                <a:solidFill>
                  <a:srgbClr val="43A047"/>
                </a:solidFill>
                <a:latin typeface="Arial"/>
              </a:rPr>
              <a:t>-</a:t>
            </a:r>
            <a:r>
              <a:rPr sz="1860" b="0">
                <a:solidFill>
                  <a:srgbClr val="141414"/>
                </a:solidFill>
                <a:latin typeface="Arial"/>
              </a:rPr>
              <a:t>baseline_climatology: columnas completas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718054"/>
            <a:ext cx="4754880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60" b="1">
                <a:solidFill>
                  <a:srgbClr val="43A047"/>
                </a:solidFill>
                <a:latin typeface="Arial"/>
              </a:rPr>
              <a:t>-</a:t>
            </a:r>
            <a:r>
              <a:rPr sz="1860" b="0">
                <a:solidFill>
                  <a:srgbClr val="141414"/>
                </a:solidFill>
                <a:latin typeface="Arial"/>
              </a:rPr>
              <a:t>cumulative_anomalies: sin nulos (60 registros)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195828"/>
            <a:ext cx="4754880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60" b="1">
                <a:solidFill>
                  <a:srgbClr val="43A047"/>
                </a:solidFill>
                <a:latin typeface="Arial"/>
              </a:rPr>
              <a:t>-</a:t>
            </a:r>
            <a:r>
              <a:rPr sz="1860" b="0">
                <a:solidFill>
                  <a:srgbClr val="141414"/>
                </a:solidFill>
                <a:latin typeface="Arial"/>
              </a:rPr>
              <a:t>historical_percentiles: orden P1 &lt; P5 &lt; P10 verificado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673602"/>
            <a:ext cx="4754880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60" b="1">
                <a:solidFill>
                  <a:srgbClr val="43A047"/>
                </a:solidFill>
                <a:latin typeface="Arial"/>
              </a:rPr>
              <a:t>-</a:t>
            </a:r>
            <a:r>
              <a:rPr sz="1860" b="0">
                <a:solidFill>
                  <a:srgbClr val="141414"/>
                </a:solidFill>
                <a:latin typeface="Arial"/>
              </a:rPr>
              <a:t>historical_losses: perdidas &gt;= 0 en todos los anos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151376"/>
            <a:ext cx="4754880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60" b="1">
                <a:solidFill>
                  <a:srgbClr val="43A047"/>
                </a:solidFill>
                <a:latin typeface="Arial"/>
              </a:rPr>
              <a:t>-</a:t>
            </a:r>
            <a:r>
              <a:rPr sz="1860" b="0">
                <a:solidFill>
                  <a:srgbClr val="141414"/>
                </a:solidFill>
                <a:latin typeface="Arial"/>
              </a:rPr>
              <a:t>pricing_quote: consistencia prima tecnica/comercial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2240280"/>
            <a:ext cx="1920240" cy="1347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260" b="1">
                <a:solidFill>
                  <a:srgbClr val="43A047"/>
                </a:solidFill>
                <a:latin typeface="Arial"/>
              </a:rPr>
              <a:t>03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87552" y="3547872"/>
            <a:ext cx="10030968" cy="0"/>
          </a:xfrm>
          <a:prstGeom prst="line">
            <a:avLst/>
          </a:prstGeom>
          <a:ln w="1524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87552" y="3886200"/>
            <a:ext cx="89611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440" b="1">
                <a:solidFill>
                  <a:srgbClr val="FFFFFF"/>
                </a:solidFill>
                <a:latin typeface="Arial"/>
              </a:rPr>
              <a:t>Diseno del indice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736592"/>
            <a:ext cx="9966960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89" b="0">
                <a:solidFill>
                  <a:srgbClr val="9E9E9E"/>
                </a:solidFill>
                <a:latin typeface="Arial"/>
              </a:rPr>
              <a:t>Despues se muestra como la humedad de suelo se convierte en gatillo.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73152"/>
            <a:ext cx="12191999" cy="0"/>
          </a:xfrm>
          <a:prstGeom prst="line">
            <a:avLst/>
          </a:prstGeom>
          <a:ln w="2032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41248" y="329184"/>
            <a:ext cx="9966960" cy="52806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100" b="1">
                <a:solidFill>
                  <a:srgbClr val="141414"/>
                </a:solidFill>
                <a:latin typeface="Arial"/>
              </a:rPr>
              <a:t>Pipeline de construccion del indice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195560" cy="4937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89" b="0">
                <a:solidFill>
                  <a:srgbClr val="555555"/>
                </a:solidFill>
                <a:latin typeface="Arial"/>
              </a:rPr>
              <a:t>Las observaciones diarias se transforman en anomalias, deficit estacional, umbrales y capas de pago.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481328"/>
            <a:ext cx="10515600" cy="0"/>
          </a:xfrm>
          <a:prstGeom prst="line">
            <a:avLst/>
          </a:prstGeom>
          <a:ln w="635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6446520"/>
            <a:ext cx="12191999" cy="0"/>
          </a:xfrm>
          <a:prstGeom prst="line">
            <a:avLst/>
          </a:prstGeom>
          <a:ln w="508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" y="6483096"/>
            <a:ext cx="7315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9E9E9E"/>
                </a:solidFill>
                <a:latin typeface="Arial"/>
              </a:rPr>
              <a:t>Producto Parametrico de Sequia | Confidencial | Abril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83096"/>
            <a:ext cx="731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200" b="0">
                <a:solidFill>
                  <a:srgbClr val="9E9E9E"/>
                </a:solidFill>
                <a:latin typeface="Arial"/>
              </a:rPr>
              <a:t>10/23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15184" y="2688336"/>
            <a:ext cx="310896" cy="0"/>
          </a:xfrm>
          <a:prstGeom prst="line">
            <a:avLst/>
          </a:prstGeom>
          <a:ln w="2032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54880" y="2688336"/>
            <a:ext cx="310896" cy="0"/>
          </a:xfrm>
          <a:prstGeom prst="line">
            <a:avLst/>
          </a:prstGeom>
          <a:ln w="2032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94576" y="2688336"/>
            <a:ext cx="310896" cy="0"/>
          </a:xfrm>
          <a:prstGeom prst="line">
            <a:avLst/>
          </a:prstGeom>
          <a:ln w="2032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034272" y="2688336"/>
            <a:ext cx="310896" cy="0"/>
          </a:xfrm>
          <a:prstGeom prst="line">
            <a:avLst/>
          </a:prstGeom>
          <a:ln w="2032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86384" y="2240280"/>
            <a:ext cx="1828800" cy="896112"/>
          </a:xfrm>
          <a:prstGeom prst="roundRect">
            <a:avLst/>
          </a:prstGeom>
          <a:solidFill>
            <a:srgbClr val="EEF7EE"/>
          </a:solidFill>
          <a:ln w="1016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89">
                <a:solidFill>
                  <a:srgbClr val="141414"/>
                </a:solidFill>
                <a:latin typeface="Arial"/>
              </a:rPr>
              <a:t>Climatologia</a:t>
            </a:r>
            <a:br/>
            <a:r>
              <a:rPr sz="1889">
                <a:solidFill>
                  <a:srgbClr val="141414"/>
                </a:solidFill>
                <a:latin typeface="Arial"/>
              </a:rPr>
              <a:t>diaria ERA5</a:t>
            </a:r>
            <a:br/>
            <a:r>
              <a:rPr sz="1889">
                <a:solidFill>
                  <a:srgbClr val="141414"/>
                </a:solidFill>
                <a:latin typeface="Arial"/>
              </a:rPr>
              <a:t>1996-2025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182112"/>
            <a:ext cx="1828800" cy="28232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50" b="0">
                <a:solidFill>
                  <a:srgbClr val="555555"/>
                </a:solidFill>
                <a:latin typeface="Arial"/>
              </a:rPr>
              <a:t>swvl1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2240280"/>
            <a:ext cx="1828800" cy="896112"/>
          </a:xfrm>
          <a:prstGeom prst="roundRect">
            <a:avLst/>
          </a:prstGeom>
          <a:solidFill>
            <a:srgbClr val="EEF7EE"/>
          </a:solidFill>
          <a:ln w="1016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89">
                <a:solidFill>
                  <a:srgbClr val="141414"/>
                </a:solidFill>
                <a:latin typeface="Arial"/>
              </a:rPr>
              <a:t>Anomalia</a:t>
            </a:r>
            <a:br/>
            <a:r>
              <a:rPr sz="1889">
                <a:solidFill>
                  <a:srgbClr val="141414"/>
                </a:solidFill>
                <a:latin typeface="Arial"/>
              </a:rPr>
              <a:t>diaria</a:t>
            </a:r>
            <a:br/>
            <a:r>
              <a:rPr sz="1889">
                <a:solidFill>
                  <a:srgbClr val="141414"/>
                </a:solidFill>
                <a:latin typeface="Arial"/>
              </a:rPr>
              <a:t>Delta S_t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182112"/>
            <a:ext cx="1828800" cy="28232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50" b="0">
                <a:solidFill>
                  <a:srgbClr val="555555"/>
                </a:solidFill>
                <a:latin typeface="Arial"/>
              </a:rPr>
              <a:t>anom_swvl1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65776" y="2240280"/>
            <a:ext cx="1828800" cy="896112"/>
          </a:xfrm>
          <a:prstGeom prst="roundRect">
            <a:avLst/>
          </a:prstGeom>
          <a:solidFill>
            <a:srgbClr val="EEF7EE"/>
          </a:solidFill>
          <a:ln w="1016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89">
                <a:solidFill>
                  <a:srgbClr val="141414"/>
                </a:solidFill>
                <a:latin typeface="Arial"/>
              </a:rPr>
              <a:t>Anomalia</a:t>
            </a:r>
            <a:br/>
            <a:r>
              <a:rPr sz="1889">
                <a:solidFill>
                  <a:srgbClr val="141414"/>
                </a:solidFill>
                <a:latin typeface="Arial"/>
              </a:rPr>
              <a:t>acumulada</a:t>
            </a:r>
            <a:br/>
            <a:r>
              <a:rPr sz="1889">
                <a:solidFill>
                  <a:srgbClr val="141414"/>
                </a:solidFill>
                <a:latin typeface="Arial"/>
              </a:rPr>
              <a:t>ventana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65776" y="3182112"/>
            <a:ext cx="1828800" cy="28232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50" b="0">
                <a:solidFill>
                  <a:srgbClr val="555555"/>
                </a:solidFill>
                <a:latin typeface="Arial"/>
              </a:rPr>
              <a:t>15-sep -&gt; 14-nov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05472" y="2240280"/>
            <a:ext cx="1828800" cy="896112"/>
          </a:xfrm>
          <a:prstGeom prst="roundRect">
            <a:avLst/>
          </a:prstGeom>
          <a:solidFill>
            <a:srgbClr val="EEF7EE"/>
          </a:solidFill>
          <a:ln w="1016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89">
                <a:solidFill>
                  <a:srgbClr val="141414"/>
                </a:solidFill>
                <a:latin typeface="Arial"/>
              </a:rPr>
              <a:t>Percentiles</a:t>
            </a:r>
            <a:br/>
            <a:r>
              <a:rPr sz="1889">
                <a:solidFill>
                  <a:srgbClr val="141414"/>
                </a:solidFill>
                <a:latin typeface="Arial"/>
              </a:rPr>
              <a:t>historicos</a:t>
            </a:r>
            <a:br/>
            <a:r>
              <a:rPr sz="1889">
                <a:solidFill>
                  <a:srgbClr val="141414"/>
                </a:solidFill>
                <a:latin typeface="Arial"/>
              </a:rPr>
              <a:t>P1 / P5 / P10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5472" y="3182112"/>
            <a:ext cx="1828800" cy="28232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50" b="0">
                <a:solidFill>
                  <a:srgbClr val="555555"/>
                </a:solidFill>
                <a:latin typeface="Arial"/>
              </a:rPr>
              <a:t>empirico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45168" y="2240280"/>
            <a:ext cx="1828800" cy="896112"/>
          </a:xfrm>
          <a:prstGeom prst="roundRect">
            <a:avLst/>
          </a:prstGeom>
          <a:solidFill>
            <a:srgbClr val="EEF7EE"/>
          </a:solidFill>
          <a:ln w="1016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89">
                <a:solidFill>
                  <a:srgbClr val="141414"/>
                </a:solidFill>
                <a:latin typeface="Arial"/>
              </a:rPr>
              <a:t>Capa de</a:t>
            </a:r>
            <a:br/>
            <a:r>
              <a:rPr sz="1889">
                <a:solidFill>
                  <a:srgbClr val="141414"/>
                </a:solidFill>
                <a:latin typeface="Arial"/>
              </a:rPr>
              <a:t>pago</a:t>
            </a:r>
            <a:br/>
            <a:r>
              <a:rPr sz="1889">
                <a:solidFill>
                  <a:srgbClr val="141414"/>
                </a:solidFill>
                <a:latin typeface="Arial"/>
              </a:rPr>
              <a:t>% limite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8" y="3182112"/>
            <a:ext cx="1828800" cy="28232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50" b="0">
                <a:solidFill>
                  <a:srgbClr val="555555"/>
                </a:solidFill>
                <a:latin typeface="Arial"/>
              </a:rPr>
              <a:t>USD/ha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72000"/>
            <a:ext cx="103327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89" b="0">
                <a:solidFill>
                  <a:srgbClr val="9E9E9E"/>
                </a:solidFill>
                <a:latin typeface="Arial"/>
              </a:rPr>
              <a:t>La climatologia de referencia se calcula como la media historica de cada dia del ano sobre 1996-2025. La anomalia diaria es la diferencia entre el valor observado y esa media; su suma dentro de la ventana de cultivo constituye el indice de sequia acumulada.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73152"/>
            <a:ext cx="12191999" cy="0"/>
          </a:xfrm>
          <a:prstGeom prst="line">
            <a:avLst/>
          </a:prstGeom>
          <a:ln w="2032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41248" y="329184"/>
            <a:ext cx="9966960" cy="52806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100" b="1">
                <a:solidFill>
                  <a:srgbClr val="141414"/>
                </a:solidFill>
                <a:latin typeface="Arial"/>
              </a:rPr>
              <a:t>Como se calcula el indice de sequia acumulada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195560" cy="4937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89" b="0">
                <a:solidFill>
                  <a:srgbClr val="555555"/>
                </a:solidFill>
                <a:latin typeface="Arial"/>
              </a:rPr>
              <a:t>El indice resume el deficit de humedad frente a lo normal durante la ventana asegurada.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481328"/>
            <a:ext cx="10515600" cy="0"/>
          </a:xfrm>
          <a:prstGeom prst="line">
            <a:avLst/>
          </a:prstGeom>
          <a:ln w="635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6446520"/>
            <a:ext cx="12191999" cy="0"/>
          </a:xfrm>
          <a:prstGeom prst="line">
            <a:avLst/>
          </a:prstGeom>
          <a:ln w="508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" y="6483096"/>
            <a:ext cx="7315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9E9E9E"/>
                </a:solidFill>
                <a:latin typeface="Arial"/>
              </a:rPr>
              <a:t>Producto Parametrico de Sequia | Confidencial | Abril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83096"/>
            <a:ext cx="731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200" b="0">
                <a:solidFill>
                  <a:srgbClr val="9E9E9E"/>
                </a:solidFill>
                <a:latin typeface="Arial"/>
              </a:rPr>
              <a:t>11/23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9601200" cy="39154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240" b="1">
                <a:solidFill>
                  <a:srgbClr val="43A047"/>
                </a:solidFill>
                <a:latin typeface="Arial"/>
              </a:rPr>
              <a:t>Idea 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59152"/>
            <a:ext cx="10241280" cy="9601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100" b="1">
                <a:solidFill>
                  <a:srgbClr val="141414"/>
                </a:solidFill>
                <a:latin typeface="Arial"/>
              </a:rPr>
              <a:t>Cada dia se compara la humedad observada contra lo normal para ese pixel y esa fecha. Luego se acumula el deficit durante la ventana asegurada.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977639"/>
            <a:ext cx="10058400" cy="400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60" b="1">
                <a:solidFill>
                  <a:srgbClr val="43A047"/>
                </a:solidFill>
                <a:latin typeface="Arial"/>
              </a:rPr>
              <a:t>-</a:t>
            </a:r>
            <a:r>
              <a:rPr sz="2060" b="0">
                <a:solidFill>
                  <a:srgbClr val="141414"/>
                </a:solidFill>
                <a:latin typeface="Arial"/>
              </a:rPr>
              <a:t>Valor mas negativo: sequia mas intensa durante la ventana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488179"/>
            <a:ext cx="10058400" cy="400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60" b="1">
                <a:solidFill>
                  <a:srgbClr val="43A047"/>
                </a:solidFill>
                <a:latin typeface="Arial"/>
              </a:rPr>
              <a:t>-</a:t>
            </a:r>
            <a:r>
              <a:rPr sz="2060" b="0">
                <a:solidFill>
                  <a:srgbClr val="141414"/>
                </a:solidFill>
                <a:latin typeface="Arial"/>
              </a:rPr>
              <a:t>Umbrales P10, P5 y P1: niveles de rareza historica calculados por pixel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998719"/>
            <a:ext cx="10058400" cy="400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60" b="1">
                <a:solidFill>
                  <a:srgbClr val="43A047"/>
                </a:solidFill>
                <a:latin typeface="Arial"/>
              </a:rPr>
              <a:t>-</a:t>
            </a:r>
            <a:r>
              <a:rPr sz="2060" b="0">
                <a:solidFill>
                  <a:srgbClr val="141414"/>
                </a:solidFill>
                <a:latin typeface="Arial"/>
              </a:rPr>
              <a:t>Pago: se activa cuando el deficit acumulado cruza el umbral de la capa correspondiente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73152"/>
            <a:ext cx="12191999" cy="0"/>
          </a:xfrm>
          <a:prstGeom prst="line">
            <a:avLst/>
          </a:prstGeom>
          <a:ln w="2032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41248" y="329184"/>
            <a:ext cx="9966960" cy="52806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100" b="1">
                <a:solidFill>
                  <a:srgbClr val="141414"/>
                </a:solidFill>
                <a:latin typeface="Arial"/>
              </a:rPr>
              <a:t>Ejemplo numerico paso a paso - campana 2009, px_1 (Sur)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195560" cy="4937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89" b="0">
                <a:solidFill>
                  <a:srgbClr val="555555"/>
                </a:solidFill>
                <a:latin typeface="Arial"/>
              </a:rPr>
              <a:t>El deficit severo de 2009 cruza P10, P5 y P1, mostrando como el indice se convierte en pago.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481328"/>
            <a:ext cx="10515600" cy="0"/>
          </a:xfrm>
          <a:prstGeom prst="line">
            <a:avLst/>
          </a:prstGeom>
          <a:ln w="635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6446520"/>
            <a:ext cx="12191999" cy="0"/>
          </a:xfrm>
          <a:prstGeom prst="line">
            <a:avLst/>
          </a:prstGeom>
          <a:ln w="508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" y="6483096"/>
            <a:ext cx="7315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9E9E9E"/>
                </a:solidFill>
                <a:latin typeface="Arial"/>
              </a:rPr>
              <a:t>Producto Parametrico de Sequia | Confidencial | Abril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83096"/>
            <a:ext cx="731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200" b="0">
                <a:solidFill>
                  <a:srgbClr val="9E9E9E"/>
                </a:solidFill>
                <a:latin typeface="Arial"/>
              </a:rPr>
              <a:t>12/23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1783080"/>
            <a:ext cx="10195560" cy="0"/>
          </a:xfrm>
          <a:prstGeom prst="line">
            <a:avLst/>
          </a:prstGeom>
          <a:ln w="101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1993392"/>
            <a:ext cx="10058400" cy="39154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240" b="1">
                <a:solidFill>
                  <a:srgbClr val="141414"/>
                </a:solidFill>
                <a:latin typeface="Arial"/>
              </a:rPr>
              <a:t>Paso 1 - Anomalia acumulada observada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23160"/>
            <a:ext cx="10058400" cy="3369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89" b="0">
                <a:solidFill>
                  <a:srgbClr val="141414"/>
                </a:solidFill>
                <a:latin typeface="Arial"/>
              </a:rPr>
              <a:t>El pipeline registra para px_1 en 2009 un deficit de -0.8132 m3/m3-dias.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07792"/>
            <a:ext cx="10058400" cy="39154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240" b="1">
                <a:solidFill>
                  <a:srgbClr val="141414"/>
                </a:solidFill>
                <a:latin typeface="Arial"/>
              </a:rPr>
              <a:t>Paso 2 - Comparacion contra umbrales empiricos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05840" y="3737610"/>
            <a:ext cx="7772400" cy="0"/>
          </a:xfrm>
          <a:prstGeom prst="line">
            <a:avLst/>
          </a:prstGeom>
          <a:ln w="1397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5840" y="4800600"/>
            <a:ext cx="7772400" cy="0"/>
          </a:xfrm>
          <a:prstGeom prst="line">
            <a:avLst/>
          </a:prstGeom>
          <a:ln w="889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42416" y="3410712"/>
            <a:ext cx="1869948" cy="31775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810" b="1">
                <a:solidFill>
                  <a:srgbClr val="43A047"/>
                </a:solidFill>
                <a:latin typeface="Arial"/>
              </a:rPr>
              <a:t>Umbral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5516" y="3410712"/>
            <a:ext cx="1869948" cy="31775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810" b="1">
                <a:solidFill>
                  <a:srgbClr val="43A047"/>
                </a:solidFill>
                <a:latin typeface="Arial"/>
              </a:rPr>
              <a:t>Valor empirico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28616" y="3410712"/>
            <a:ext cx="1869948" cy="31775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810" b="1">
                <a:solidFill>
                  <a:srgbClr val="43A047"/>
                </a:solidFill>
                <a:latin typeface="Arial"/>
              </a:rPr>
              <a:t>Deficit 2009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1716" y="3410712"/>
            <a:ext cx="1869948" cy="31775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810" b="1">
                <a:solidFill>
                  <a:srgbClr val="43A047"/>
                </a:solidFill>
                <a:latin typeface="Arial"/>
              </a:rPr>
              <a:t>Activado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" y="3765042"/>
            <a:ext cx="1869948" cy="31775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810" b="0">
                <a:solidFill>
                  <a:srgbClr val="141414"/>
                </a:solidFill>
                <a:latin typeface="Arial"/>
              </a:rPr>
              <a:t>P10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85516" y="3765042"/>
            <a:ext cx="1869948" cy="31775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810" b="0">
                <a:solidFill>
                  <a:srgbClr val="141414"/>
                </a:solidFill>
                <a:latin typeface="Arial"/>
              </a:rPr>
              <a:t>-0.5780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28616" y="3765042"/>
            <a:ext cx="1869948" cy="31775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810" b="0">
                <a:solidFill>
                  <a:srgbClr val="141414"/>
                </a:solidFill>
                <a:latin typeface="Arial"/>
              </a:rPr>
              <a:t>-0.8132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1716" y="3765042"/>
            <a:ext cx="1869948" cy="31775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810" b="0">
                <a:solidFill>
                  <a:srgbClr val="141414"/>
                </a:solidFill>
                <a:latin typeface="Arial"/>
              </a:rPr>
              <a:t>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05840" y="4091940"/>
            <a:ext cx="7772400" cy="0"/>
          </a:xfrm>
          <a:prstGeom prst="line">
            <a:avLst/>
          </a:prstGeom>
          <a:ln w="571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42416" y="4119372"/>
            <a:ext cx="1869948" cy="31775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810" b="0">
                <a:solidFill>
                  <a:srgbClr val="141414"/>
                </a:solidFill>
                <a:latin typeface="Arial"/>
              </a:rPr>
              <a:t>P5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85516" y="4119372"/>
            <a:ext cx="1869948" cy="31775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810" b="0">
                <a:solidFill>
                  <a:srgbClr val="141414"/>
                </a:solidFill>
                <a:latin typeface="Arial"/>
              </a:rPr>
              <a:t>-0.6612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28616" y="4119372"/>
            <a:ext cx="1869948" cy="31775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810" b="0">
                <a:solidFill>
                  <a:srgbClr val="141414"/>
                </a:solidFill>
                <a:latin typeface="Arial"/>
              </a:rPr>
              <a:t>-0.8132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1716" y="4119372"/>
            <a:ext cx="1869948" cy="31775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810" b="0">
                <a:solidFill>
                  <a:srgbClr val="141414"/>
                </a:solidFill>
                <a:latin typeface="Arial"/>
              </a:rPr>
              <a:t>Si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05840" y="4446270"/>
            <a:ext cx="7772400" cy="0"/>
          </a:xfrm>
          <a:prstGeom prst="line">
            <a:avLst/>
          </a:prstGeom>
          <a:ln w="571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42416" y="4473702"/>
            <a:ext cx="1869948" cy="31775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810" b="0">
                <a:solidFill>
                  <a:srgbClr val="141414"/>
                </a:solidFill>
                <a:latin typeface="Arial"/>
              </a:rPr>
              <a:t>P1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85516" y="4473702"/>
            <a:ext cx="1869948" cy="31775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810" b="0">
                <a:solidFill>
                  <a:srgbClr val="141414"/>
                </a:solidFill>
                <a:latin typeface="Arial"/>
              </a:rPr>
              <a:t>-0.7794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28616" y="4473702"/>
            <a:ext cx="1869948" cy="31775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810" b="0">
                <a:solidFill>
                  <a:srgbClr val="141414"/>
                </a:solidFill>
                <a:latin typeface="Arial"/>
              </a:rPr>
              <a:t>-0.8132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1716" y="4473702"/>
            <a:ext cx="1869948" cy="31775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810" b="0">
                <a:solidFill>
                  <a:srgbClr val="141414"/>
                </a:solidFill>
                <a:latin typeface="Arial"/>
              </a:rPr>
              <a:t>Si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074920"/>
            <a:ext cx="10058400" cy="39154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240" b="1">
                <a:solidFill>
                  <a:srgbClr val="141414"/>
                </a:solidFill>
                <a:latin typeface="Arial"/>
              </a:rPr>
              <a:t>Paso 3 - Capa activada: P1 =&gt; pago = 100% del limite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486400"/>
            <a:ext cx="102412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10" b="0">
                <a:solidFill>
                  <a:srgbClr val="141414"/>
                </a:solidFill>
                <a:latin typeface="Arial"/>
              </a:rPr>
              <a:t>Limite midpoint Sur: $750 USD/ha - Area del pixel: 1,000 ha - Pago total px_1, campana 2009: $750,000 USD.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2240280"/>
            <a:ext cx="1920240" cy="1347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260" b="1">
                <a:solidFill>
                  <a:srgbClr val="43A047"/>
                </a:solidFill>
                <a:latin typeface="Arial"/>
              </a:rPr>
              <a:t>04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87552" y="3547872"/>
            <a:ext cx="10030968" cy="0"/>
          </a:xfrm>
          <a:prstGeom prst="line">
            <a:avLst/>
          </a:prstGeom>
          <a:ln w="1524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87552" y="3886200"/>
            <a:ext cx="89611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440" b="1">
                <a:solidFill>
                  <a:srgbClr val="FFFFFF"/>
                </a:solidFill>
                <a:latin typeface="Arial"/>
              </a:rPr>
              <a:t>Diseno del contrato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736592"/>
            <a:ext cx="9966960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89" b="0">
                <a:solidFill>
                  <a:srgbClr val="9E9E9E"/>
                </a:solidFill>
                <a:latin typeface="Arial"/>
              </a:rPr>
              <a:t>Luego el gatillo se traduce a capas, perdidas historicas y riesgo de portafolio.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73152"/>
            <a:ext cx="12191999" cy="0"/>
          </a:xfrm>
          <a:prstGeom prst="line">
            <a:avLst/>
          </a:prstGeom>
          <a:ln w="2032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41248" y="329184"/>
            <a:ext cx="9966960" cy="52806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100" b="1">
                <a:solidFill>
                  <a:srgbClr val="141414"/>
                </a:solidFill>
                <a:latin typeface="Arial"/>
              </a:rPr>
              <a:t>Serie historica de perdidas anuales - 1996-2025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195560" cy="4937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89" b="0">
                <a:solidFill>
                  <a:srgbClr val="555555"/>
                </a:solidFill>
                <a:latin typeface="Arial"/>
              </a:rPr>
              <a:t>Los pagos son poco frecuentes pero materiales, con el mayor evento por sequia severa simultanea.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481328"/>
            <a:ext cx="10515600" cy="0"/>
          </a:xfrm>
          <a:prstGeom prst="line">
            <a:avLst/>
          </a:prstGeom>
          <a:ln w="635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6446520"/>
            <a:ext cx="12191999" cy="0"/>
          </a:xfrm>
          <a:prstGeom prst="line">
            <a:avLst/>
          </a:prstGeom>
          <a:ln w="508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" y="6483096"/>
            <a:ext cx="7315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9E9E9E"/>
                </a:solidFill>
                <a:latin typeface="Arial"/>
              </a:rPr>
              <a:t>Producto Parametrico de Sequia | Confidencial | Abril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83096"/>
            <a:ext cx="731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200" b="0">
                <a:solidFill>
                  <a:srgbClr val="9E9E9E"/>
                </a:solidFill>
                <a:latin typeface="Arial"/>
              </a:rPr>
              <a:t>14/23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17320" y="5093208"/>
            <a:ext cx="9665208" cy="0"/>
          </a:xfrm>
          <a:prstGeom prst="line">
            <a:avLst/>
          </a:prstGeom>
          <a:ln w="571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4992624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50" b="0">
                <a:solidFill>
                  <a:srgbClr val="555555"/>
                </a:solidFill>
                <a:latin typeface="Arial"/>
              </a:rPr>
              <a:t>0.0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17320" y="4026408"/>
            <a:ext cx="9665208" cy="0"/>
          </a:xfrm>
          <a:prstGeom prst="line">
            <a:avLst/>
          </a:prstGeom>
          <a:ln w="571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3925824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50" b="0">
                <a:solidFill>
                  <a:srgbClr val="555555"/>
                </a:solidFill>
                <a:latin typeface="Arial"/>
              </a:rPr>
              <a:t>0.4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17320" y="2959608"/>
            <a:ext cx="9665208" cy="0"/>
          </a:xfrm>
          <a:prstGeom prst="line">
            <a:avLst/>
          </a:prstGeom>
          <a:ln w="571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2859024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50" b="0">
                <a:solidFill>
                  <a:srgbClr val="555555"/>
                </a:solidFill>
                <a:latin typeface="Arial"/>
              </a:rPr>
              <a:t>0.8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17320" y="1892808"/>
            <a:ext cx="9665208" cy="0"/>
          </a:xfrm>
          <a:prstGeom prst="line">
            <a:avLst/>
          </a:prstGeom>
          <a:ln w="571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1792224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50" b="0">
                <a:solidFill>
                  <a:srgbClr val="555555"/>
                </a:solidFill>
                <a:latin typeface="Arial"/>
              </a:rPr>
              <a:t>1.2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17320" y="1892808"/>
            <a:ext cx="0" cy="3200400"/>
          </a:xfrm>
          <a:prstGeom prst="line">
            <a:avLst/>
          </a:prstGeom>
          <a:ln w="889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417320" y="5093208"/>
            <a:ext cx="9665208" cy="0"/>
          </a:xfrm>
          <a:prstGeom prst="line">
            <a:avLst/>
          </a:prstGeom>
          <a:ln w="889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028537" y="2692908"/>
            <a:ext cx="93430" cy="24003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89623" y="2692908"/>
            <a:ext cx="93430" cy="24003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17231" y="3973068"/>
            <a:ext cx="93430" cy="11201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78318" y="3973068"/>
            <a:ext cx="93430" cy="11201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39405" y="1892808"/>
            <a:ext cx="93430" cy="3200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00491" y="1892808"/>
            <a:ext cx="93430" cy="3200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61578" y="4613148"/>
            <a:ext cx="93430" cy="48006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2665" y="4613148"/>
            <a:ext cx="93430" cy="48006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94620" y="4293108"/>
            <a:ext cx="93430" cy="8001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55707" y="4293108"/>
            <a:ext cx="93430" cy="8001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16793" y="4773168"/>
            <a:ext cx="93430" cy="3200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77880" y="4773168"/>
            <a:ext cx="93430" cy="3200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24507" y="5157216"/>
            <a:ext cx="457200" cy="18675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555555"/>
                </a:solidFill>
                <a:latin typeface="Arial"/>
              </a:rPr>
              <a:t>1998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29941" y="5157216"/>
            <a:ext cx="457200" cy="18675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555555"/>
                </a:solidFill>
                <a:latin typeface="Arial"/>
              </a:rPr>
              <a:t>2000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35375" y="5157216"/>
            <a:ext cx="457200" cy="18675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555555"/>
                </a:solidFill>
                <a:latin typeface="Arial"/>
              </a:rPr>
              <a:t>2003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0809" y="5157216"/>
            <a:ext cx="457200" cy="18675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555555"/>
                </a:solidFill>
                <a:latin typeface="Arial"/>
              </a:rPr>
              <a:t>2005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46243" y="5157216"/>
            <a:ext cx="457200" cy="18675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555555"/>
                </a:solidFill>
                <a:latin typeface="Arial"/>
              </a:rPr>
              <a:t>2008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51677" y="5157216"/>
            <a:ext cx="457200" cy="18675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555555"/>
                </a:solidFill>
                <a:latin typeface="Arial"/>
              </a:rPr>
              <a:t>2010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57111" y="5157216"/>
            <a:ext cx="457200" cy="18675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555555"/>
                </a:solidFill>
                <a:latin typeface="Arial"/>
              </a:rPr>
              <a:t>2013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62545" y="5157216"/>
            <a:ext cx="457200" cy="18675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555555"/>
                </a:solidFill>
                <a:latin typeface="Arial"/>
              </a:rPr>
              <a:t>2015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7979" y="5157216"/>
            <a:ext cx="457200" cy="18675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555555"/>
                </a:solidFill>
                <a:latin typeface="Arial"/>
              </a:rPr>
              <a:t>2018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73413" y="5157216"/>
            <a:ext cx="457200" cy="18675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555555"/>
                </a:solidFill>
                <a:latin typeface="Arial"/>
              </a:rPr>
              <a:t>2020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78847" y="5157216"/>
            <a:ext cx="457200" cy="18675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555555"/>
                </a:solidFill>
                <a:latin typeface="Arial"/>
              </a:rPr>
              <a:t>2023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4281" y="5157216"/>
            <a:ext cx="457200" cy="18675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555555"/>
                </a:solidFill>
                <a:latin typeface="Arial"/>
              </a:rPr>
              <a:t>2025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39528" y="1938528"/>
            <a:ext cx="1097280" cy="25501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380" b="0">
                <a:solidFill>
                  <a:srgbClr val="43A047"/>
                </a:solidFill>
                <a:latin typeface="Arial"/>
              </a:rPr>
              <a:t>Perdida anual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760720"/>
            <a:ext cx="1024128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20" b="0">
                <a:solidFill>
                  <a:srgbClr val="555555"/>
                </a:solidFill>
                <a:latin typeface="Arial"/>
              </a:rPr>
              <a:t>Lectura: seis de 30 campanas generaron pago. El pico de $1.20 M ocurrio en 2009 por activacion P1 simultanea en Sur y Norte; el riesgo se concentra entre 2004 y 2017.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73152"/>
            <a:ext cx="12191999" cy="0"/>
          </a:xfrm>
          <a:prstGeom prst="line">
            <a:avLst/>
          </a:prstGeom>
          <a:ln w="2032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41248" y="329184"/>
            <a:ext cx="9966960" cy="52806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100" b="1">
                <a:solidFill>
                  <a:srgbClr val="141414"/>
                </a:solidFill>
                <a:latin typeface="Arial"/>
              </a:rPr>
              <a:t>Curva de probabilidad anual de excedencia - portafolio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195560" cy="4937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89" b="0">
                <a:solidFill>
                  <a:srgbClr val="555555"/>
                </a:solidFill>
                <a:latin typeface="Arial"/>
              </a:rPr>
              <a:t>La curva AEP traduce las perdidas a lenguaje de periodo de retorno para transferencia de riesgo.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481328"/>
            <a:ext cx="10515600" cy="0"/>
          </a:xfrm>
          <a:prstGeom prst="line">
            <a:avLst/>
          </a:prstGeom>
          <a:ln w="635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6446520"/>
            <a:ext cx="12191999" cy="0"/>
          </a:xfrm>
          <a:prstGeom prst="line">
            <a:avLst/>
          </a:prstGeom>
          <a:ln w="508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" y="6483096"/>
            <a:ext cx="7315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9E9E9E"/>
                </a:solidFill>
                <a:latin typeface="Arial"/>
              </a:rPr>
              <a:t>Producto Parametrico de Sequia | Confidencial | Abril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83096"/>
            <a:ext cx="731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200" b="0">
                <a:solidFill>
                  <a:srgbClr val="9E9E9E"/>
                </a:solidFill>
                <a:latin typeface="Arial"/>
              </a:rPr>
              <a:t>15/23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17320" y="5093208"/>
            <a:ext cx="9665208" cy="0"/>
          </a:xfrm>
          <a:prstGeom prst="line">
            <a:avLst/>
          </a:prstGeom>
          <a:ln w="571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4992624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50" b="0">
                <a:solidFill>
                  <a:srgbClr val="555555"/>
                </a:solidFill>
                <a:latin typeface="Arial"/>
              </a:rPr>
              <a:t>0.0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17320" y="4026408"/>
            <a:ext cx="9665208" cy="0"/>
          </a:xfrm>
          <a:prstGeom prst="line">
            <a:avLst/>
          </a:prstGeom>
          <a:ln w="571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3925824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50" b="0">
                <a:solidFill>
                  <a:srgbClr val="555555"/>
                </a:solidFill>
                <a:latin typeface="Arial"/>
              </a:rPr>
              <a:t>0.4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17320" y="2959608"/>
            <a:ext cx="9665208" cy="0"/>
          </a:xfrm>
          <a:prstGeom prst="line">
            <a:avLst/>
          </a:prstGeom>
          <a:ln w="571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2859024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50" b="0">
                <a:solidFill>
                  <a:srgbClr val="555555"/>
                </a:solidFill>
                <a:latin typeface="Arial"/>
              </a:rPr>
              <a:t>0.8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17320" y="1892808"/>
            <a:ext cx="9665208" cy="0"/>
          </a:xfrm>
          <a:prstGeom prst="line">
            <a:avLst/>
          </a:prstGeom>
          <a:ln w="571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1792224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50" b="0">
                <a:solidFill>
                  <a:srgbClr val="555555"/>
                </a:solidFill>
                <a:latin typeface="Arial"/>
              </a:rPr>
              <a:t>1.2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17320" y="1892808"/>
            <a:ext cx="0" cy="3200400"/>
          </a:xfrm>
          <a:prstGeom prst="line">
            <a:avLst/>
          </a:prstGeom>
          <a:ln w="889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417320" y="5093208"/>
            <a:ext cx="9665208" cy="0"/>
          </a:xfrm>
          <a:prstGeom prst="line">
            <a:avLst/>
          </a:prstGeom>
          <a:ln w="889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474464" y="5157216"/>
            <a:ext cx="329184" cy="18675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555555"/>
                </a:solidFill>
                <a:latin typeface="Arial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6200" y="5157216"/>
            <a:ext cx="329184" cy="18675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555555"/>
                </a:solidFill>
                <a:latin typeface="Arial"/>
              </a:rP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17936" y="5157216"/>
            <a:ext cx="329184" cy="18675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555555"/>
                </a:solidFill>
                <a:latin typeface="Arial"/>
              </a:rPr>
              <a:t>30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449537" y="18928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568741" y="18928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87945" y="1892808"/>
            <a:ext cx="119205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07150" y="18928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926354" y="18928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045558" y="18928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164762" y="18928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283966" y="1892808"/>
            <a:ext cx="119205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403171" y="1892808"/>
            <a:ext cx="119204" cy="80010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522375" y="26929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641579" y="26929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760783" y="2692908"/>
            <a:ext cx="119205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879988" y="26929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999192" y="26929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118396" y="26929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237600" y="2692908"/>
            <a:ext cx="119205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356805" y="26929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476009" y="2692908"/>
            <a:ext cx="119204" cy="128016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595213" y="397306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714417" y="3973068"/>
            <a:ext cx="119205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833622" y="397306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952826" y="397306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072030" y="397306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191234" y="397306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310438" y="3973068"/>
            <a:ext cx="119205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29643" y="397306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48847" y="3973068"/>
            <a:ext cx="119204" cy="32004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668051" y="42931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87255" y="4293108"/>
            <a:ext cx="119205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906460" y="42931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025664" y="42931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44868" y="42931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264072" y="4293108"/>
            <a:ext cx="119205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383277" y="42931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502481" y="4293108"/>
            <a:ext cx="119204" cy="32004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621685" y="461314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740889" y="461314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860093" y="4613148"/>
            <a:ext cx="119205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979298" y="461314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098502" y="461314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217706" y="461314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6336910" y="4613148"/>
            <a:ext cx="119205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6456115" y="461314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575319" y="4613148"/>
            <a:ext cx="119204" cy="16002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6694523" y="477316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6813727" y="4773168"/>
            <a:ext cx="119205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6932932" y="477316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7052136" y="477316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7171340" y="477316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290544" y="477316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409748" y="4773168"/>
            <a:ext cx="119205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528953" y="477316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648157" y="4773168"/>
            <a:ext cx="119204" cy="32004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767361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886565" y="5093208"/>
            <a:ext cx="119205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8005770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124974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244178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363382" y="5093208"/>
            <a:ext cx="119205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482587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601791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720995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840199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959403" y="5093208"/>
            <a:ext cx="119205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9078608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9197812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9317016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9436220" y="5093208"/>
            <a:ext cx="119205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9555425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674629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793833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913037" y="5093208"/>
            <a:ext cx="119205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0032242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0151446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0270650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0389854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0509058" y="5093208"/>
            <a:ext cx="119205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10628263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10747467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10866671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Oval 101"/>
          <p:cNvSpPr/>
          <p:nvPr/>
        </p:nvSpPr>
        <p:spPr>
          <a:xfrm>
            <a:off x="1417533" y="1860804"/>
            <a:ext cx="64008" cy="64008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2132758" y="1860804"/>
            <a:ext cx="64008" cy="64008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2847984" y="2660904"/>
            <a:ext cx="64008" cy="64008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3563209" y="3941064"/>
            <a:ext cx="64008" cy="64008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278434" y="3941064"/>
            <a:ext cx="64008" cy="64008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993660" y="4261104"/>
            <a:ext cx="64008" cy="64008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5708885" y="4581144"/>
            <a:ext cx="64008" cy="64008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424111" y="4581144"/>
            <a:ext cx="64008" cy="64008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139336" y="4741164"/>
            <a:ext cx="64008" cy="64008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854561" y="5061204"/>
            <a:ext cx="64008" cy="64008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569787" y="5061204"/>
            <a:ext cx="64008" cy="64008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9285012" y="5061204"/>
            <a:ext cx="64008" cy="64008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0000238" y="5061204"/>
            <a:ext cx="64008" cy="64008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0715463" y="5061204"/>
            <a:ext cx="64008" cy="64008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488168" y="1938528"/>
            <a:ext cx="548640" cy="25501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380" b="0">
                <a:solidFill>
                  <a:srgbClr val="43A047"/>
                </a:solidFill>
                <a:latin typeface="Arial"/>
              </a:rPr>
              <a:t>AEP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14400" y="5760720"/>
            <a:ext cx="1033272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20" b="0">
                <a:solidFill>
                  <a:srgbClr val="555555"/>
                </a:solidFill>
                <a:latin typeface="Arial"/>
              </a:rPr>
              <a:t>Eje X: probabilidad anual de excedencia (%). Eje Y: perdida (USD M). La perdida media anual converge en $0.10 M; exceder $0.40 M ocurre cerca de 10% anual.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73152"/>
            <a:ext cx="12191999" cy="0"/>
          </a:xfrm>
          <a:prstGeom prst="line">
            <a:avLst/>
          </a:prstGeom>
          <a:ln w="2032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41248" y="329184"/>
            <a:ext cx="9966960" cy="52806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100" b="1">
                <a:solidFill>
                  <a:srgbClr val="141414"/>
                </a:solidFill>
                <a:latin typeface="Arial"/>
              </a:rPr>
              <a:t>Estructura de capas del contrato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195560" cy="4937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89" b="0">
                <a:solidFill>
                  <a:srgbClr val="555555"/>
                </a:solidFill>
                <a:latin typeface="Arial"/>
              </a:rPr>
              <a:t>Las capas pagan parcialmente eventos moderados y agotan limite en sequias raras y severas.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481328"/>
            <a:ext cx="10515600" cy="0"/>
          </a:xfrm>
          <a:prstGeom prst="line">
            <a:avLst/>
          </a:prstGeom>
          <a:ln w="635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6446520"/>
            <a:ext cx="12191999" cy="0"/>
          </a:xfrm>
          <a:prstGeom prst="line">
            <a:avLst/>
          </a:prstGeom>
          <a:ln w="508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" y="6483096"/>
            <a:ext cx="7315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9E9E9E"/>
                </a:solidFill>
                <a:latin typeface="Arial"/>
              </a:rPr>
              <a:t>Producto Parametrico de Sequia | Confidencial | Abril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83096"/>
            <a:ext cx="731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200" b="0">
                <a:solidFill>
                  <a:srgbClr val="9E9E9E"/>
                </a:solidFill>
                <a:latin typeface="Arial"/>
              </a:rPr>
              <a:t>16/23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297680" cy="39154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240" b="1">
                <a:solidFill>
                  <a:srgbClr val="141414"/>
                </a:solidFill>
                <a:latin typeface="Arial"/>
              </a:rPr>
              <a:t>Esquema de capas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148840"/>
            <a:ext cx="3337560" cy="1234440"/>
          </a:xfrm>
          <a:prstGeom prst="rect">
            <a:avLst/>
          </a:prstGeom>
          <a:solidFill>
            <a:srgbClr val="DDF0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13432"/>
            <a:ext cx="3337560" cy="32327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810" b="1">
                <a:solidFill>
                  <a:srgbClr val="141414"/>
                </a:solidFill>
                <a:latin typeface="Arial"/>
              </a:rPr>
              <a:t>Capa atacante - P10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43784"/>
            <a:ext cx="3337560" cy="24136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90" b="0">
                <a:solidFill>
                  <a:srgbClr val="141414"/>
                </a:solidFill>
                <a:latin typeface="Arial"/>
              </a:rPr>
              <a:t>20% limite/ha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383280"/>
            <a:ext cx="3337560" cy="1097280"/>
          </a:xfrm>
          <a:prstGeom prst="rect">
            <a:avLst/>
          </a:prstGeom>
          <a:solidFill>
            <a:srgbClr val="8FC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547872"/>
            <a:ext cx="3337560" cy="32327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810" b="1">
                <a:solidFill>
                  <a:srgbClr val="141414"/>
                </a:solidFill>
                <a:latin typeface="Arial"/>
              </a:rPr>
              <a:t>Capa media - P5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78224"/>
            <a:ext cx="3337560" cy="24136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90" b="0">
                <a:solidFill>
                  <a:srgbClr val="141414"/>
                </a:solidFill>
                <a:latin typeface="Arial"/>
              </a:rPr>
              <a:t>40% limite/ha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480560"/>
            <a:ext cx="3337560" cy="11430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45152"/>
            <a:ext cx="3337560" cy="32327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810" b="1">
                <a:solidFill>
                  <a:srgbClr val="FFFFFF"/>
                </a:solidFill>
                <a:latin typeface="Arial"/>
              </a:rPr>
              <a:t>Capa cola - P1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75504"/>
            <a:ext cx="3337560" cy="24136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90" b="0">
                <a:solidFill>
                  <a:srgbClr val="FFFFFF"/>
                </a:solidFill>
                <a:latin typeface="Arial"/>
              </a:rPr>
              <a:t>100% limite/ha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9808" y="2148840"/>
            <a:ext cx="0" cy="3611880"/>
          </a:xfrm>
          <a:prstGeom prst="line">
            <a:avLst/>
          </a:prstGeom>
          <a:ln w="1270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84048" y="3429000"/>
            <a:ext cx="347472" cy="1005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80" b="0">
                <a:solidFill>
                  <a:srgbClr val="555555"/>
                </a:solidFill>
                <a:latin typeface="Arial"/>
              </a:rPr>
              <a:t>Intensidad de sequia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1783080"/>
            <a:ext cx="5029200" cy="39154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240" b="1">
                <a:solidFill>
                  <a:srgbClr val="141414"/>
                </a:solidFill>
                <a:latin typeface="Arial"/>
              </a:rPr>
              <a:t>Parametros por region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35040" y="2664823"/>
            <a:ext cx="4892040" cy="0"/>
          </a:xfrm>
          <a:prstGeom prst="line">
            <a:avLst/>
          </a:prstGeom>
          <a:ln w="1397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35040" y="5212080"/>
            <a:ext cx="4892040" cy="0"/>
          </a:xfrm>
          <a:prstGeom prst="line">
            <a:avLst/>
          </a:prstGeom>
          <a:ln w="889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71616" y="2267712"/>
            <a:ext cx="1557528" cy="38796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720" b="1">
                <a:solidFill>
                  <a:srgbClr val="43A047"/>
                </a:solidFill>
                <a:latin typeface="Arial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02296" y="2267712"/>
            <a:ext cx="1557528" cy="38796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720" b="1">
                <a:solidFill>
                  <a:srgbClr val="43A047"/>
                </a:solidFill>
                <a:latin typeface="Arial"/>
              </a:rPr>
              <a:t>Sur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32976" y="2267712"/>
            <a:ext cx="1557528" cy="38796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720" b="1">
                <a:solidFill>
                  <a:srgbClr val="43A047"/>
                </a:solidFill>
                <a:latin typeface="Arial"/>
              </a:rPr>
              <a:t>Norte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71616" y="2692255"/>
            <a:ext cx="1557528" cy="38796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720" b="0">
                <a:solidFill>
                  <a:srgbClr val="141414"/>
                </a:solidFill>
                <a:latin typeface="Arial"/>
              </a:rPr>
              <a:t>Limite min (USD/ha)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02296" y="2692255"/>
            <a:ext cx="1557528" cy="38796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720" b="0">
                <a:solidFill>
                  <a:srgbClr val="141414"/>
                </a:solidFill>
                <a:latin typeface="Arial"/>
              </a:rPr>
              <a:t>600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2976" y="2692255"/>
            <a:ext cx="1557528" cy="38796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720" b="0">
                <a:solidFill>
                  <a:srgbClr val="141414"/>
                </a:solidFill>
                <a:latin typeface="Arial"/>
              </a:rPr>
              <a:t>900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35040" y="3089366"/>
            <a:ext cx="4892040" cy="0"/>
          </a:xfrm>
          <a:prstGeom prst="line">
            <a:avLst/>
          </a:prstGeom>
          <a:ln w="571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071616" y="3116798"/>
            <a:ext cx="1557528" cy="38796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720" b="0">
                <a:solidFill>
                  <a:srgbClr val="141414"/>
                </a:solidFill>
                <a:latin typeface="Arial"/>
              </a:rPr>
              <a:t>Limite mid (USD/ha)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02296" y="3116798"/>
            <a:ext cx="1557528" cy="38796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720" b="0">
                <a:solidFill>
                  <a:srgbClr val="141414"/>
                </a:solidFill>
                <a:latin typeface="Arial"/>
              </a:rPr>
              <a:t>750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32976" y="3116798"/>
            <a:ext cx="1557528" cy="38796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720" b="0">
                <a:solidFill>
                  <a:srgbClr val="141414"/>
                </a:solidFill>
                <a:latin typeface="Arial"/>
              </a:rPr>
              <a:t>1,050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035040" y="3513909"/>
            <a:ext cx="4892040" cy="0"/>
          </a:xfrm>
          <a:prstGeom prst="line">
            <a:avLst/>
          </a:prstGeom>
          <a:ln w="571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071616" y="3541341"/>
            <a:ext cx="1557528" cy="38796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720" b="0">
                <a:solidFill>
                  <a:srgbClr val="141414"/>
                </a:solidFill>
                <a:latin typeface="Arial"/>
              </a:rPr>
              <a:t>Limite max (USD/ha)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02296" y="3541341"/>
            <a:ext cx="1557528" cy="38796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720" b="0">
                <a:solidFill>
                  <a:srgbClr val="141414"/>
                </a:solidFill>
                <a:latin typeface="Arial"/>
              </a:rPr>
              <a:t>900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32976" y="3541341"/>
            <a:ext cx="1557528" cy="38796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720" b="0">
                <a:solidFill>
                  <a:srgbClr val="141414"/>
                </a:solidFill>
                <a:latin typeface="Arial"/>
              </a:rPr>
              <a:t>1,200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035040" y="3938451"/>
            <a:ext cx="4892040" cy="0"/>
          </a:xfrm>
          <a:prstGeom prst="line">
            <a:avLst/>
          </a:prstGeom>
          <a:ln w="571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071616" y="3965883"/>
            <a:ext cx="1557528" cy="38796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720" b="0">
                <a:solidFill>
                  <a:srgbClr val="141414"/>
                </a:solidFill>
                <a:latin typeface="Arial"/>
              </a:rPr>
              <a:t>P10 pago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02296" y="3965883"/>
            <a:ext cx="1557528" cy="38796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720" b="0">
                <a:solidFill>
                  <a:srgbClr val="141414"/>
                </a:solidFill>
                <a:latin typeface="Arial"/>
              </a:rPr>
              <a:t>20%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32976" y="3965883"/>
            <a:ext cx="1557528" cy="38796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720" b="0">
                <a:solidFill>
                  <a:srgbClr val="141414"/>
                </a:solidFill>
                <a:latin typeface="Arial"/>
              </a:rPr>
              <a:t>20%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035040" y="4362994"/>
            <a:ext cx="4892040" cy="0"/>
          </a:xfrm>
          <a:prstGeom prst="line">
            <a:avLst/>
          </a:prstGeom>
          <a:ln w="571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071616" y="4390426"/>
            <a:ext cx="1557528" cy="38796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720" b="0">
                <a:solidFill>
                  <a:srgbClr val="141414"/>
                </a:solidFill>
                <a:latin typeface="Arial"/>
              </a:rPr>
              <a:t>P5 pago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02296" y="4390426"/>
            <a:ext cx="1557528" cy="38796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720" b="0">
                <a:solidFill>
                  <a:srgbClr val="141414"/>
                </a:solidFill>
                <a:latin typeface="Arial"/>
              </a:rPr>
              <a:t>40%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32976" y="4390426"/>
            <a:ext cx="1557528" cy="38796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720" b="0">
                <a:solidFill>
                  <a:srgbClr val="141414"/>
                </a:solidFill>
                <a:latin typeface="Arial"/>
              </a:rPr>
              <a:t>40%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035040" y="4787537"/>
            <a:ext cx="4892040" cy="0"/>
          </a:xfrm>
          <a:prstGeom prst="line">
            <a:avLst/>
          </a:prstGeom>
          <a:ln w="571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071616" y="4814969"/>
            <a:ext cx="1557528" cy="38796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720" b="0">
                <a:solidFill>
                  <a:srgbClr val="141414"/>
                </a:solidFill>
                <a:latin typeface="Arial"/>
              </a:rPr>
              <a:t>P1 pago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02296" y="4814969"/>
            <a:ext cx="1557528" cy="38796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720" b="0">
                <a:solidFill>
                  <a:srgbClr val="141414"/>
                </a:solidFill>
                <a:latin typeface="Arial"/>
              </a:rPr>
              <a:t>100%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32976" y="4814969"/>
            <a:ext cx="1557528" cy="38796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720" b="0">
                <a:solidFill>
                  <a:srgbClr val="141414"/>
                </a:solidFill>
                <a:latin typeface="Arial"/>
              </a:rPr>
              <a:t>100%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73152"/>
            <a:ext cx="12191999" cy="0"/>
          </a:xfrm>
          <a:prstGeom prst="line">
            <a:avLst/>
          </a:prstGeom>
          <a:ln w="2032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41248" y="329184"/>
            <a:ext cx="9966960" cy="52806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100" b="1">
                <a:solidFill>
                  <a:srgbClr val="141414"/>
                </a:solidFill>
                <a:latin typeface="Arial"/>
              </a:rPr>
              <a:t>El parametro disparador K: cuatro lentes de lectura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195560" cy="4937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89" b="0">
                <a:solidFill>
                  <a:srgbClr val="555555"/>
                </a:solidFill>
                <a:latin typeface="Arial"/>
              </a:rPr>
              <a:t>El mismo umbral se entiende como percentil, dato observado, frecuencia y regla economica.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481328"/>
            <a:ext cx="10515600" cy="0"/>
          </a:xfrm>
          <a:prstGeom prst="line">
            <a:avLst/>
          </a:prstGeom>
          <a:ln w="635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6446520"/>
            <a:ext cx="12191999" cy="0"/>
          </a:xfrm>
          <a:prstGeom prst="line">
            <a:avLst/>
          </a:prstGeom>
          <a:ln w="508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" y="6483096"/>
            <a:ext cx="7315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9E9E9E"/>
                </a:solidFill>
                <a:latin typeface="Arial"/>
              </a:rPr>
              <a:t>Producto Parametrico de Sequia | Confidencial | Abril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83096"/>
            <a:ext cx="731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200" b="0">
                <a:solidFill>
                  <a:srgbClr val="9E9E9E"/>
                </a:solidFill>
                <a:latin typeface="Arial"/>
              </a:rPr>
              <a:t>17/23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2542032"/>
            <a:ext cx="10378440" cy="0"/>
          </a:xfrm>
          <a:prstGeom prst="line">
            <a:avLst/>
          </a:prstGeom>
          <a:ln w="1397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4400" y="5577840"/>
            <a:ext cx="10378440" cy="0"/>
          </a:xfrm>
          <a:prstGeom prst="line">
            <a:avLst/>
          </a:prstGeom>
          <a:ln w="889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50976" y="1810512"/>
            <a:ext cx="5116068" cy="7223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460" b="1">
                <a:solidFill>
                  <a:srgbClr val="43A047"/>
                </a:solidFill>
                <a:latin typeface="Arial"/>
              </a:rPr>
              <a:t>Lente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0196" y="1810512"/>
            <a:ext cx="5116068" cy="7223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460" b="1">
                <a:solidFill>
                  <a:srgbClr val="43A047"/>
                </a:solidFill>
                <a:latin typeface="Arial"/>
              </a:rPr>
              <a:t>Interpretacion del umbral K (ej. P10)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569464"/>
            <a:ext cx="5116068" cy="7223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460" b="0">
                <a:solidFill>
                  <a:srgbClr val="141414"/>
                </a:solidFill>
                <a:latin typeface="Arial"/>
              </a:rPr>
              <a:t>Mecanica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0196" y="2569464"/>
            <a:ext cx="5116068" cy="7223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460" b="0">
                <a:solidFill>
                  <a:srgbClr val="141414"/>
                </a:solidFill>
                <a:latin typeface="Arial"/>
              </a:rPr>
              <a:t>Percentil 10 de la distribucion empirica de anomalia acumulada; se activa cuando la sequia supera ese nivel de rareza historica.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3300984"/>
            <a:ext cx="10378440" cy="0"/>
          </a:xfrm>
          <a:prstGeom prst="line">
            <a:avLst/>
          </a:prstGeom>
          <a:ln w="571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50976" y="3328416"/>
            <a:ext cx="5116068" cy="7223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460" b="0">
                <a:solidFill>
                  <a:srgbClr val="141414"/>
                </a:solidFill>
                <a:latin typeface="Arial"/>
              </a:rPr>
              <a:t>En el dato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0196" y="3328416"/>
            <a:ext cx="5116068" cy="7223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460" b="0">
                <a:solidFill>
                  <a:srgbClr val="141414"/>
                </a:solidFill>
                <a:latin typeface="Arial"/>
              </a:rPr>
              <a:t>K_P10 = -0.578 m3/m3 - d (Sur) y -0.432 m3/m3 - d (Norte), calibrado sobre 30 temporadas de ERA5.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4059936"/>
            <a:ext cx="10378440" cy="0"/>
          </a:xfrm>
          <a:prstGeom prst="line">
            <a:avLst/>
          </a:prstGeom>
          <a:ln w="571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50976" y="4087368"/>
            <a:ext cx="5116068" cy="7223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460" b="0">
                <a:solidFill>
                  <a:srgbClr val="141414"/>
                </a:solidFill>
                <a:latin typeface="Arial"/>
              </a:rPr>
              <a:t>En el tiempo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0196" y="4087368"/>
            <a:ext cx="5116068" cy="7223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460" b="0">
                <a:solidFill>
                  <a:srgbClr val="141414"/>
                </a:solidFill>
                <a:latin typeface="Arial"/>
              </a:rPr>
              <a:t>En 30 anos, el umbral P10 se activo 6 veces; frecuencia observada = 10%, consistente con el diseno.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4818888"/>
            <a:ext cx="10378440" cy="0"/>
          </a:xfrm>
          <a:prstGeom prst="line">
            <a:avLst/>
          </a:prstGeom>
          <a:ln w="571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50976" y="4846320"/>
            <a:ext cx="5116068" cy="7223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460" b="0">
                <a:solidFill>
                  <a:srgbClr val="141414"/>
                </a:solidFill>
                <a:latin typeface="Arial"/>
              </a:rPr>
              <a:t>En la economia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0196" y="4846320"/>
            <a:ext cx="5116068" cy="7223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460" b="0">
                <a:solidFill>
                  <a:srgbClr val="141414"/>
                </a:solidFill>
                <a:latin typeface="Arial"/>
              </a:rPr>
              <a:t>Cada activacion P10 genera $150 USD/ha (Sur) o $210 USD/ha (Norte); P1 genera $750 o $1,050 USD/ha.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69280"/>
            <a:ext cx="9875520" cy="336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89" b="1">
                <a:solidFill>
                  <a:srgbClr val="43A047"/>
                </a:solidFill>
                <a:latin typeface="Arial"/>
              </a:rPr>
              <a:t>Reasegurador: periodo de retorno.</a:t>
            </a:r>
            <a:r>
              <a:rPr sz="1889" b="0">
                <a:solidFill>
                  <a:srgbClr val="555555"/>
                </a:solidFill>
                <a:latin typeface="Arial"/>
              </a:rPr>
              <a:t>Cedente: extension de cartera.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2240280"/>
            <a:ext cx="1920240" cy="1347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260" b="1">
                <a:solidFill>
                  <a:srgbClr val="43A047"/>
                </a:solidFill>
                <a:latin typeface="Arial"/>
              </a:rPr>
              <a:t>05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87552" y="3547872"/>
            <a:ext cx="10030968" cy="0"/>
          </a:xfrm>
          <a:prstGeom prst="line">
            <a:avLst/>
          </a:prstGeom>
          <a:ln w="1524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87552" y="3886200"/>
            <a:ext cx="89611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440" b="1">
                <a:solidFill>
                  <a:srgbClr val="FFFFFF"/>
                </a:solidFill>
                <a:latin typeface="Arial"/>
              </a:rPr>
              <a:t>Resultados y cotizacion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736592"/>
            <a:ext cx="9966960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89" b="0">
                <a:solidFill>
                  <a:srgbClr val="9E9E9E"/>
                </a:solidFill>
                <a:latin typeface="Arial"/>
              </a:rPr>
              <a:t>Finalmente el riesgo modelado se conecta con la prima cotizada.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73152"/>
            <a:ext cx="12191999" cy="0"/>
          </a:xfrm>
          <a:prstGeom prst="line">
            <a:avLst/>
          </a:prstGeom>
          <a:ln w="2032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41248" y="329184"/>
            <a:ext cx="9966960" cy="52806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100" b="1">
                <a:solidFill>
                  <a:srgbClr val="141414"/>
                </a:solidFill>
                <a:latin typeface="Arial"/>
              </a:rPr>
              <a:t>Cotizacion del portafolio - Trigo Argentina 1996-2025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195560" cy="4937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89" b="0">
                <a:solidFill>
                  <a:srgbClr val="555555"/>
                </a:solidFill>
                <a:latin typeface="Arial"/>
              </a:rPr>
              <a:t>La cotizacion convierte perdida esperada y volatilidad en prima tecnica y luego comercial.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481328"/>
            <a:ext cx="10515600" cy="0"/>
          </a:xfrm>
          <a:prstGeom prst="line">
            <a:avLst/>
          </a:prstGeom>
          <a:ln w="635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6446520"/>
            <a:ext cx="12191999" cy="0"/>
          </a:xfrm>
          <a:prstGeom prst="line">
            <a:avLst/>
          </a:prstGeom>
          <a:ln w="508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" y="6483096"/>
            <a:ext cx="7315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9E9E9E"/>
                </a:solidFill>
                <a:latin typeface="Arial"/>
              </a:rPr>
              <a:t>Producto Parametrico de Sequia | Confidencial | Abril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83096"/>
            <a:ext cx="731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200" b="0">
                <a:solidFill>
                  <a:srgbClr val="9E9E9E"/>
                </a:solidFill>
                <a:latin typeface="Arial"/>
              </a:rPr>
              <a:t>19/23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96112" y="2377439"/>
            <a:ext cx="10469880" cy="0"/>
          </a:xfrm>
          <a:prstGeom prst="line">
            <a:avLst/>
          </a:prstGeom>
          <a:ln w="1397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96112" y="2880359"/>
            <a:ext cx="10469880" cy="0"/>
          </a:xfrm>
          <a:prstGeom prst="line">
            <a:avLst/>
          </a:prstGeom>
          <a:ln w="889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32688" y="1901951"/>
            <a:ext cx="2020824" cy="4663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630" b="1">
                <a:solidFill>
                  <a:srgbClr val="43A047"/>
                </a:solidFill>
                <a:latin typeface="Arial"/>
              </a:rPr>
              <a:t>Cultivo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6664" y="1901951"/>
            <a:ext cx="2020824" cy="4663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630" b="1">
                <a:solidFill>
                  <a:srgbClr val="43A047"/>
                </a:solidFill>
                <a:latin typeface="Arial"/>
              </a:rPr>
              <a:t>Perdida media anual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901951"/>
            <a:ext cx="2020824" cy="4663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630" b="1">
                <a:solidFill>
                  <a:srgbClr val="43A047"/>
                </a:solidFill>
                <a:latin typeface="Arial"/>
              </a:rPr>
              <a:t>Desvio estandar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4616" y="1901951"/>
            <a:ext cx="2020824" cy="4663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630" b="1">
                <a:solidFill>
                  <a:srgbClr val="43A047"/>
                </a:solidFill>
                <a:latin typeface="Arial"/>
              </a:rPr>
              <a:t>Prima tecnica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8592" y="1901951"/>
            <a:ext cx="2020824" cy="4663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630" b="1">
                <a:solidFill>
                  <a:srgbClr val="43A047"/>
                </a:solidFill>
                <a:latin typeface="Arial"/>
              </a:rPr>
              <a:t>Prima comercial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404871"/>
            <a:ext cx="2020824" cy="4663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630" b="0">
                <a:solidFill>
                  <a:srgbClr val="141414"/>
                </a:solidFill>
                <a:latin typeface="Arial"/>
              </a:rPr>
              <a:t>Trigo (combinado)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6664" y="2404871"/>
            <a:ext cx="2020824" cy="4663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630" b="0">
                <a:solidFill>
                  <a:srgbClr val="141414"/>
                </a:solidFill>
                <a:latin typeface="Arial"/>
              </a:rPr>
              <a:t>$104,000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404871"/>
            <a:ext cx="2020824" cy="4663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630" b="0">
                <a:solidFill>
                  <a:srgbClr val="141414"/>
                </a:solidFill>
                <a:latin typeface="Arial"/>
              </a:rPr>
              <a:t>$277,844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14616" y="2404871"/>
            <a:ext cx="2020824" cy="4663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630" b="0">
                <a:solidFill>
                  <a:srgbClr val="141414"/>
                </a:solidFill>
                <a:latin typeface="Arial"/>
              </a:rPr>
              <a:t>$520,766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8592" y="2404871"/>
            <a:ext cx="2020824" cy="4663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630" b="0">
                <a:solidFill>
                  <a:srgbClr val="141414"/>
                </a:solidFill>
                <a:latin typeface="Arial"/>
              </a:rPr>
              <a:t>$650,957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182112"/>
            <a:ext cx="104241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89" b="0">
                <a:solidFill>
                  <a:srgbClr val="9E9E9E"/>
                </a:solidFill>
                <a:latin typeface="Arial"/>
              </a:rPr>
              <a:t>Todas las cifras estan en USD. La prima tecnica carga perdida esperada y volatilidad; la prima comercial agrega el margen objetivo.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069080"/>
            <a:ext cx="9875520" cy="39154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240" b="1">
                <a:solidFill>
                  <a:srgbClr val="141414"/>
                </a:solidFill>
                <a:latin typeface="Arial"/>
              </a:rPr>
              <a:t>Lectura de precio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26280"/>
            <a:ext cx="1024128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240" b="0">
                <a:solidFill>
                  <a:srgbClr val="141414"/>
                </a:solidFill>
                <a:latin typeface="Arial"/>
              </a:rPr>
              <a:t>La prima comercial de $650,957 equivale a 6.26x la perdida media anual. Ese multiple refleja que el riesgo es infrecuente, pero con cola material.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73152"/>
            <a:ext cx="12191999" cy="0"/>
          </a:xfrm>
          <a:prstGeom prst="line">
            <a:avLst/>
          </a:prstGeom>
          <a:ln w="2032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41248" y="329184"/>
            <a:ext cx="9966960" cy="52806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100" b="1">
                <a:solidFill>
                  <a:srgbClr val="141414"/>
                </a:solidFill>
                <a:latin typeface="Arial"/>
              </a:rPr>
              <a:t>Curva de probabilidad anual de excedencia por cultivo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195560" cy="4937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89" b="0">
                <a:solidFill>
                  <a:srgbClr val="555555"/>
                </a:solidFill>
                <a:latin typeface="Arial"/>
              </a:rPr>
              <a:t>La curva muestra que las perdidas positivas son infrecuentes, pero la cola sigue definiendo precio.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481328"/>
            <a:ext cx="10515600" cy="0"/>
          </a:xfrm>
          <a:prstGeom prst="line">
            <a:avLst/>
          </a:prstGeom>
          <a:ln w="635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6446520"/>
            <a:ext cx="12191999" cy="0"/>
          </a:xfrm>
          <a:prstGeom prst="line">
            <a:avLst/>
          </a:prstGeom>
          <a:ln w="508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" y="6483096"/>
            <a:ext cx="7315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9E9E9E"/>
                </a:solidFill>
                <a:latin typeface="Arial"/>
              </a:rPr>
              <a:t>Producto Parametrico de Sequia | Confidencial | Abril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83096"/>
            <a:ext cx="731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200" b="0">
                <a:solidFill>
                  <a:srgbClr val="9E9E9E"/>
                </a:solidFill>
                <a:latin typeface="Arial"/>
              </a:rPr>
              <a:t>20/23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17320" y="5093208"/>
            <a:ext cx="9665208" cy="0"/>
          </a:xfrm>
          <a:prstGeom prst="line">
            <a:avLst/>
          </a:prstGeom>
          <a:ln w="571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4992624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50" b="0">
                <a:solidFill>
                  <a:srgbClr val="555555"/>
                </a:solidFill>
                <a:latin typeface="Arial"/>
              </a:rPr>
              <a:t>0.0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17320" y="4026408"/>
            <a:ext cx="9665208" cy="0"/>
          </a:xfrm>
          <a:prstGeom prst="line">
            <a:avLst/>
          </a:prstGeom>
          <a:ln w="571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3925824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50" b="0">
                <a:solidFill>
                  <a:srgbClr val="555555"/>
                </a:solidFill>
                <a:latin typeface="Arial"/>
              </a:rPr>
              <a:t>0.4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17320" y="2959608"/>
            <a:ext cx="9665208" cy="0"/>
          </a:xfrm>
          <a:prstGeom prst="line">
            <a:avLst/>
          </a:prstGeom>
          <a:ln w="571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2859024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50" b="0">
                <a:solidFill>
                  <a:srgbClr val="555555"/>
                </a:solidFill>
                <a:latin typeface="Arial"/>
              </a:rPr>
              <a:t>0.8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17320" y="1892808"/>
            <a:ext cx="9665208" cy="0"/>
          </a:xfrm>
          <a:prstGeom prst="line">
            <a:avLst/>
          </a:prstGeom>
          <a:ln w="571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1792224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50" b="0">
                <a:solidFill>
                  <a:srgbClr val="555555"/>
                </a:solidFill>
                <a:latin typeface="Arial"/>
              </a:rPr>
              <a:t>1.2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17320" y="1892808"/>
            <a:ext cx="0" cy="3200400"/>
          </a:xfrm>
          <a:prstGeom prst="line">
            <a:avLst/>
          </a:prstGeom>
          <a:ln w="889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417320" y="5093208"/>
            <a:ext cx="9665208" cy="0"/>
          </a:xfrm>
          <a:prstGeom prst="line">
            <a:avLst/>
          </a:prstGeom>
          <a:ln w="889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474464" y="5157216"/>
            <a:ext cx="329184" cy="18675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555555"/>
                </a:solidFill>
                <a:latin typeface="Arial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6200" y="5157216"/>
            <a:ext cx="329184" cy="18675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555555"/>
                </a:solidFill>
                <a:latin typeface="Arial"/>
              </a:rP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17936" y="5157216"/>
            <a:ext cx="329184" cy="18675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555555"/>
                </a:solidFill>
                <a:latin typeface="Arial"/>
              </a:rPr>
              <a:t>30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449537" y="18928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568741" y="18928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87945" y="1892808"/>
            <a:ext cx="119205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07150" y="18928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926354" y="18928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045558" y="18928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164762" y="18928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283966" y="1892808"/>
            <a:ext cx="119205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403171" y="1892808"/>
            <a:ext cx="119204" cy="80010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522375" y="26929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641579" y="26929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760783" y="2692908"/>
            <a:ext cx="119205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879988" y="26929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999192" y="26929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118396" y="26929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237600" y="2692908"/>
            <a:ext cx="119205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356805" y="26929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476009" y="2692908"/>
            <a:ext cx="119204" cy="128016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595213" y="397306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714417" y="3973068"/>
            <a:ext cx="119205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833622" y="397306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952826" y="397306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072030" y="397306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191234" y="397306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310438" y="3973068"/>
            <a:ext cx="119205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29643" y="397306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48847" y="3973068"/>
            <a:ext cx="119204" cy="32004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668051" y="42931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87255" y="4293108"/>
            <a:ext cx="119205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906460" y="42931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025664" y="42931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44868" y="42931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264072" y="4293108"/>
            <a:ext cx="119205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383277" y="42931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502481" y="4293108"/>
            <a:ext cx="119204" cy="32004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621685" y="461314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740889" y="461314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860093" y="4613148"/>
            <a:ext cx="119205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979298" y="461314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098502" y="461314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217706" y="461314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6336910" y="4613148"/>
            <a:ext cx="119205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6456115" y="461314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575319" y="4613148"/>
            <a:ext cx="119204" cy="16002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6694523" y="477316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6813727" y="4773168"/>
            <a:ext cx="119205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6932932" y="477316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7052136" y="477316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7171340" y="477316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290544" y="477316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409748" y="4773168"/>
            <a:ext cx="119205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528953" y="477316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648157" y="4773168"/>
            <a:ext cx="119204" cy="32004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767361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886565" y="5093208"/>
            <a:ext cx="119205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8005770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124974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244178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363382" y="5093208"/>
            <a:ext cx="119205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482587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601791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720995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840199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959403" y="5093208"/>
            <a:ext cx="119205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9078608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9197812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9317016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9436220" y="5093208"/>
            <a:ext cx="119205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9555425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674629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793833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913037" y="5093208"/>
            <a:ext cx="119205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0032242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0151446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0270650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0389854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0509058" y="5093208"/>
            <a:ext cx="119205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10628263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10747467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10866671" y="5093208"/>
            <a:ext cx="119204" cy="0"/>
          </a:xfrm>
          <a:prstGeom prst="line">
            <a:avLst/>
          </a:prstGeom>
          <a:ln w="228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Oval 101"/>
          <p:cNvSpPr/>
          <p:nvPr/>
        </p:nvSpPr>
        <p:spPr>
          <a:xfrm>
            <a:off x="1417533" y="1860804"/>
            <a:ext cx="64008" cy="64008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2132758" y="1860804"/>
            <a:ext cx="64008" cy="64008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2847984" y="2660904"/>
            <a:ext cx="64008" cy="64008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3563209" y="3941064"/>
            <a:ext cx="64008" cy="64008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278434" y="3941064"/>
            <a:ext cx="64008" cy="64008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993660" y="4261104"/>
            <a:ext cx="64008" cy="64008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5708885" y="4581144"/>
            <a:ext cx="64008" cy="64008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424111" y="4581144"/>
            <a:ext cx="64008" cy="64008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139336" y="4741164"/>
            <a:ext cx="64008" cy="64008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854561" y="5061204"/>
            <a:ext cx="64008" cy="64008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569787" y="5061204"/>
            <a:ext cx="64008" cy="64008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9285012" y="5061204"/>
            <a:ext cx="64008" cy="64008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0000238" y="5061204"/>
            <a:ext cx="64008" cy="64008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0715463" y="5061204"/>
            <a:ext cx="64008" cy="64008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488168" y="1938528"/>
            <a:ext cx="548640" cy="25501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380" b="0">
                <a:solidFill>
                  <a:srgbClr val="43A047"/>
                </a:solidFill>
                <a:latin typeface="Arial"/>
              </a:rPr>
              <a:t>AEP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14400" y="5760720"/>
            <a:ext cx="1033272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20" b="0">
                <a:solidFill>
                  <a:srgbClr val="555555"/>
                </a:solidFill>
                <a:latin typeface="Arial"/>
              </a:rPr>
              <a:t>Lectura: trigo excede perdida positiva cerca de 22% anual, consistente con seis activaciones en 30 temporadas. El maximo de cartera queda cerca de 3%.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2240280"/>
            <a:ext cx="1920240" cy="1347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260" b="1">
                <a:solidFill>
                  <a:srgbClr val="43A047"/>
                </a:solidFill>
                <a:latin typeface="Arial"/>
              </a:rPr>
              <a:t>06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87552" y="3547872"/>
            <a:ext cx="10030968" cy="0"/>
          </a:xfrm>
          <a:prstGeom prst="line">
            <a:avLst/>
          </a:prstGeom>
          <a:ln w="1524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87552" y="3886200"/>
            <a:ext cx="89611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440" b="1">
                <a:solidFill>
                  <a:srgbClr val="FFFFFF"/>
                </a:solidFill>
                <a:latin typeface="Arial"/>
              </a:rPr>
              <a:t>Proximos pasos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736592"/>
            <a:ext cx="9966960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89" b="0">
                <a:solidFill>
                  <a:srgbClr val="9E9E9E"/>
                </a:solidFill>
                <a:latin typeface="Arial"/>
              </a:rPr>
              <a:t>El cierre ordena las decisiones operativas previas a la colocacion.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73152"/>
            <a:ext cx="12191999" cy="0"/>
          </a:xfrm>
          <a:prstGeom prst="line">
            <a:avLst/>
          </a:prstGeom>
          <a:ln w="2032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41248" y="329184"/>
            <a:ext cx="9966960" cy="52806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100" b="1">
                <a:solidFill>
                  <a:srgbClr val="141414"/>
                </a:solidFill>
                <a:latin typeface="Arial"/>
              </a:rPr>
              <a:t>Proximos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195560" cy="4937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89" b="0">
                <a:solidFill>
                  <a:srgbClr val="555555"/>
                </a:solidFill>
                <a:latin typeface="Arial"/>
              </a:rPr>
              <a:t>El lanzamiento depende de validar exposicion, ampliar cultivos y cerrar poliza con reaseguro.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481328"/>
            <a:ext cx="10515600" cy="0"/>
          </a:xfrm>
          <a:prstGeom prst="line">
            <a:avLst/>
          </a:prstGeom>
          <a:ln w="635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6446520"/>
            <a:ext cx="12191999" cy="0"/>
          </a:xfrm>
          <a:prstGeom prst="line">
            <a:avLst/>
          </a:prstGeom>
          <a:ln w="508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" y="6483096"/>
            <a:ext cx="7315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9E9E9E"/>
                </a:solidFill>
                <a:latin typeface="Arial"/>
              </a:rPr>
              <a:t>Producto Parametrico de Sequia | Confidencial | Abril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83096"/>
            <a:ext cx="731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200" b="0">
                <a:solidFill>
                  <a:srgbClr val="9E9E9E"/>
                </a:solidFill>
                <a:latin typeface="Arial"/>
              </a:rPr>
              <a:t>22/23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1783080"/>
            <a:ext cx="10149840" cy="0"/>
          </a:xfrm>
          <a:prstGeom prst="line">
            <a:avLst/>
          </a:prstGeom>
          <a:ln w="1016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60120" y="2240280"/>
            <a:ext cx="10058400" cy="55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40" b="1">
                <a:solidFill>
                  <a:srgbClr val="43A047"/>
                </a:solidFill>
                <a:latin typeface="Arial"/>
              </a:rPr>
              <a:t>1.</a:t>
            </a:r>
            <a:r>
              <a:rPr sz="2240" b="0">
                <a:solidFill>
                  <a:srgbClr val="141414"/>
                </a:solidFill>
                <a:latin typeface="Arial"/>
              </a:rPr>
              <a:t>Validacion de cartera: confirmar superficie asegurada por zona y limites definitivos para ajustar AAL y prima comercial a la exposicion real.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70733"/>
            <a:ext cx="10058400" cy="55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40" b="1">
                <a:solidFill>
                  <a:srgbClr val="43A047"/>
                </a:solidFill>
                <a:latin typeface="Arial"/>
              </a:rPr>
              <a:t>2.</a:t>
            </a:r>
            <a:r>
              <a:rPr sz="2240" b="0">
                <a:solidFill>
                  <a:srgbClr val="141414"/>
                </a:solidFill>
                <a:latin typeface="Arial"/>
              </a:rPr>
              <a:t>Incorporacion de cultivos: extender a Soja Sur, Maiz Sur, Soja Norte y Maiz Norte con ventanas ya configuradas.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901186"/>
            <a:ext cx="10058400" cy="55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40" b="1">
                <a:solidFill>
                  <a:srgbClr val="43A047"/>
                </a:solidFill>
                <a:latin typeface="Arial"/>
              </a:rPr>
              <a:t>3.</a:t>
            </a:r>
            <a:r>
              <a:rPr sz="2240" b="0">
                <a:solidFill>
                  <a:srgbClr val="141414"/>
                </a:solidFill>
                <a:latin typeface="Arial"/>
              </a:rPr>
              <a:t>Emision y reaseguro: cerrar contrato definitivo, retenciones y colocacion bajo la estructura de capas.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05840" y="4846320"/>
            <a:ext cx="10149840" cy="0"/>
          </a:xfrm>
          <a:prstGeom prst="line">
            <a:avLst/>
          </a:prstGeom>
          <a:ln w="2032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0" y="2468880"/>
            <a:ext cx="12191999" cy="8011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4820" b="1">
                <a:solidFill>
                  <a:srgbClr val="FFFFFF"/>
                </a:solidFill>
                <a:latin typeface="Arial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383280"/>
            <a:ext cx="9692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889" b="0">
                <a:solidFill>
                  <a:srgbClr val="9E9E9E"/>
                </a:solidFill>
                <a:latin typeface="Arial"/>
              </a:rPr>
              <a:t>El producto queda listo para validar exposicion, cerrar redaccion de poliza y estructurar reaseguro.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858768"/>
            <a:ext cx="12191999" cy="28232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50" b="0">
                <a:solidFill>
                  <a:srgbClr val="9E9E9E"/>
                </a:solidFill>
                <a:latin typeface="Arial"/>
              </a:rPr>
              <a:t>Suyana - Seguro Parametrico de Sequia - Trigo Argentina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349240"/>
            <a:ext cx="10149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80" b="0">
                <a:solidFill>
                  <a:srgbClr val="555555"/>
                </a:solidFill>
                <a:latin typeface="Arial"/>
              </a:rPr>
              <a:t>Producto Parametrico de Sequia v1.0.0 - Climatologia ERA5 1996-2025 - 13 de marzo de 2026 - Confidencial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